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68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9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9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9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2540400"/>
            <a:ext cx="18288000" cy="4552315"/>
          </a:xfrm>
          <a:custGeom>
            <a:avLst/>
            <a:gdLst/>
            <a:ahLst/>
            <a:cxnLst/>
            <a:rect l="l" t="t" r="r" b="b"/>
            <a:pathLst>
              <a:path w="18288000" h="4552315">
                <a:moveTo>
                  <a:pt x="18288000" y="4551800"/>
                </a:moveTo>
                <a:lnTo>
                  <a:pt x="0" y="45518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4551800"/>
                </a:lnTo>
                <a:close/>
              </a:path>
            </a:pathLst>
          </a:custGeom>
          <a:solidFill>
            <a:srgbClr val="9D24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9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8287997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9525" y="363685"/>
            <a:ext cx="13051387" cy="27231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9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61336" y="4647222"/>
            <a:ext cx="8732519" cy="3768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42047" y="3133924"/>
            <a:ext cx="11046460" cy="4953635"/>
          </a:xfrm>
          <a:prstGeom prst="rect">
            <a:avLst/>
          </a:prstGeom>
          <a:solidFill>
            <a:srgbClr val="9D2428">
              <a:alpha val="86999"/>
            </a:srgbClr>
          </a:solidFill>
        </p:spPr>
        <p:txBody>
          <a:bodyPr vert="horz" wrap="square" lIns="0" tIns="4819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795"/>
              </a:spcBef>
            </a:pPr>
            <a:endParaRPr sz="6850">
              <a:latin typeface="Times New Roman"/>
              <a:cs typeface="Times New Roman"/>
            </a:endParaRPr>
          </a:p>
          <a:p>
            <a:pPr marR="1951989">
              <a:lnSpc>
                <a:spcPts val="6820"/>
              </a:lnSpc>
              <a:spcBef>
                <a:spcPts val="5"/>
              </a:spcBef>
            </a:pPr>
            <a:r>
              <a:rPr sz="6850" b="1" spc="-280" dirty="0">
                <a:solidFill>
                  <a:srgbClr val="FFFFFF"/>
                </a:solidFill>
                <a:latin typeface="Tahoma"/>
                <a:cs typeface="Tahoma"/>
              </a:rPr>
              <a:t>Blood</a:t>
            </a:r>
            <a:r>
              <a:rPr sz="6850" b="1" spc="-420" dirty="0">
                <a:solidFill>
                  <a:srgbClr val="FFFFFF"/>
                </a:solidFill>
                <a:latin typeface="Tahoma"/>
                <a:cs typeface="Tahoma"/>
              </a:rPr>
              <a:t> Bank </a:t>
            </a:r>
            <a:r>
              <a:rPr sz="6850" b="1" spc="-434" dirty="0">
                <a:solidFill>
                  <a:srgbClr val="FFFFFF"/>
                </a:solidFill>
                <a:latin typeface="Tahoma"/>
                <a:cs typeface="Tahoma"/>
              </a:rPr>
              <a:t>Management-</a:t>
            </a:r>
            <a:r>
              <a:rPr sz="6850" b="1" spc="-409" dirty="0">
                <a:solidFill>
                  <a:srgbClr val="FFFFFF"/>
                </a:solidFill>
                <a:latin typeface="Tahoma"/>
                <a:cs typeface="Tahoma"/>
              </a:rPr>
              <a:t>Frontend</a:t>
            </a:r>
            <a:endParaRPr sz="6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018643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08414" y="580592"/>
            <a:ext cx="4358640" cy="1280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200" spc="-425" dirty="0">
                <a:solidFill>
                  <a:srgbClr val="9D2428"/>
                </a:solidFill>
              </a:rPr>
              <a:t>Abstract:</a:t>
            </a:r>
            <a:endParaRPr sz="8200"/>
          </a:p>
        </p:txBody>
      </p:sp>
      <p:sp>
        <p:nvSpPr>
          <p:cNvPr id="4" name="object 4"/>
          <p:cNvSpPr/>
          <p:nvPr/>
        </p:nvSpPr>
        <p:spPr>
          <a:xfrm>
            <a:off x="9144000" y="4638035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9D24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08414" y="2401714"/>
            <a:ext cx="10654030" cy="494601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785"/>
              </a:spcBef>
            </a:pP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The</a:t>
            </a:r>
            <a:r>
              <a:rPr sz="3200" spc="-13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70" dirty="0">
                <a:solidFill>
                  <a:srgbClr val="9D2428"/>
                </a:solidFill>
                <a:latin typeface="Tahoma"/>
                <a:cs typeface="Tahoma"/>
              </a:rPr>
              <a:t>Blood</a:t>
            </a:r>
            <a:r>
              <a:rPr sz="3200" spc="-13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Bank</a:t>
            </a:r>
            <a:r>
              <a:rPr sz="3200" spc="-13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Management</a:t>
            </a:r>
            <a:r>
              <a:rPr sz="3200" spc="-13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9D2428"/>
                </a:solidFill>
                <a:latin typeface="Tahoma"/>
                <a:cs typeface="Tahoma"/>
              </a:rPr>
              <a:t>System</a:t>
            </a:r>
            <a:r>
              <a:rPr sz="3200" spc="-13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is</a:t>
            </a:r>
            <a:r>
              <a:rPr sz="3200" spc="-13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85" dirty="0">
                <a:solidFill>
                  <a:srgbClr val="9D2428"/>
                </a:solidFill>
                <a:latin typeface="Tahoma"/>
                <a:cs typeface="Tahoma"/>
              </a:rPr>
              <a:t>a</a:t>
            </a:r>
            <a:r>
              <a:rPr sz="3200" spc="-20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web-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based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application</a:t>
            </a:r>
            <a:r>
              <a:rPr sz="3200" spc="-6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designed</a:t>
            </a:r>
            <a:r>
              <a:rPr sz="3200" spc="-5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75" dirty="0">
                <a:solidFill>
                  <a:srgbClr val="9D2428"/>
                </a:solidFill>
                <a:latin typeface="Tahoma"/>
                <a:cs typeface="Tahoma"/>
              </a:rPr>
              <a:t>to</a:t>
            </a:r>
            <a:r>
              <a:rPr sz="3200" spc="-5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eﬃciently</a:t>
            </a:r>
            <a:r>
              <a:rPr sz="3200" spc="-14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9D2428"/>
                </a:solidFill>
                <a:latin typeface="Tahoma"/>
                <a:cs typeface="Tahoma"/>
              </a:rPr>
              <a:t>manage</a:t>
            </a:r>
            <a:r>
              <a:rPr sz="3200" spc="-5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blood</a:t>
            </a:r>
            <a:r>
              <a:rPr sz="3200" spc="-5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donation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activities,</a:t>
            </a:r>
            <a:r>
              <a:rPr sz="3200" spc="-12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donor</a:t>
            </a:r>
            <a:r>
              <a:rPr sz="3200" spc="-19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35" dirty="0">
                <a:solidFill>
                  <a:srgbClr val="9D2428"/>
                </a:solidFill>
                <a:latin typeface="Tahoma"/>
                <a:cs typeface="Tahoma"/>
              </a:rPr>
              <a:t>records,</a:t>
            </a:r>
            <a:r>
              <a:rPr sz="3200" spc="-12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blood</a:t>
            </a:r>
            <a:r>
              <a:rPr sz="3200" spc="-12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9D2428"/>
                </a:solidFill>
                <a:latin typeface="Tahoma"/>
                <a:cs typeface="Tahoma"/>
              </a:rPr>
              <a:t>inventory,</a:t>
            </a:r>
            <a:r>
              <a:rPr sz="3200" spc="-12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and</a:t>
            </a:r>
            <a:r>
              <a:rPr sz="3200" spc="-12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blood requests</a:t>
            </a:r>
            <a:r>
              <a:rPr sz="3200" spc="-15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from</a:t>
            </a:r>
            <a:r>
              <a:rPr sz="3200" spc="-15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hospitals</a:t>
            </a:r>
            <a:r>
              <a:rPr sz="3200" spc="-15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or</a:t>
            </a:r>
            <a:r>
              <a:rPr sz="3200" spc="-22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9D2428"/>
                </a:solidFill>
                <a:latin typeface="Tahoma"/>
                <a:cs typeface="Tahoma"/>
              </a:rPr>
              <a:t>patients.</a:t>
            </a:r>
            <a:r>
              <a:rPr sz="3200" spc="-25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The</a:t>
            </a:r>
            <a:r>
              <a:rPr sz="3200" spc="-15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system</a:t>
            </a:r>
            <a:r>
              <a:rPr sz="3200" spc="-15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helps </a:t>
            </a:r>
            <a:r>
              <a:rPr sz="3200" spc="-20" dirty="0">
                <a:solidFill>
                  <a:srgbClr val="9D2428"/>
                </a:solidFill>
                <a:latin typeface="Tahoma"/>
                <a:cs typeface="Tahoma"/>
              </a:rPr>
              <a:t>maintain</a:t>
            </a:r>
            <a:r>
              <a:rPr sz="3200" spc="-17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accurate</a:t>
            </a:r>
            <a:r>
              <a:rPr sz="3200" spc="-16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and</a:t>
            </a:r>
            <a:r>
              <a:rPr sz="3200" spc="-16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30" dirty="0">
                <a:solidFill>
                  <a:srgbClr val="9D2428"/>
                </a:solidFill>
                <a:latin typeface="Tahoma"/>
                <a:cs typeface="Tahoma"/>
              </a:rPr>
              <a:t>real-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time</a:t>
            </a:r>
            <a:r>
              <a:rPr sz="3200" spc="-16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9D2428"/>
                </a:solidFill>
                <a:latin typeface="Tahoma"/>
                <a:cs typeface="Tahoma"/>
              </a:rPr>
              <a:t>data</a:t>
            </a:r>
            <a:r>
              <a:rPr sz="3200" spc="-16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70" dirty="0">
                <a:solidFill>
                  <a:srgbClr val="9D2428"/>
                </a:solidFill>
                <a:latin typeface="Tahoma"/>
                <a:cs typeface="Tahoma"/>
              </a:rPr>
              <a:t>of</a:t>
            </a:r>
            <a:r>
              <a:rPr sz="3200" spc="-22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9D2428"/>
                </a:solidFill>
                <a:latin typeface="Tahoma"/>
                <a:cs typeface="Tahoma"/>
              </a:rPr>
              <a:t>available</a:t>
            </a:r>
            <a:r>
              <a:rPr sz="3200" spc="-17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blood </a:t>
            </a:r>
            <a:r>
              <a:rPr sz="3200" spc="-30" dirty="0">
                <a:solidFill>
                  <a:srgbClr val="9D2428"/>
                </a:solidFill>
                <a:latin typeface="Tahoma"/>
                <a:cs typeface="Tahoma"/>
              </a:rPr>
              <a:t>units,</a:t>
            </a:r>
            <a:r>
              <a:rPr sz="3200" spc="-18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donor</a:t>
            </a:r>
            <a:r>
              <a:rPr sz="3200" spc="-24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information,</a:t>
            </a:r>
            <a:r>
              <a:rPr sz="3200" spc="-18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and</a:t>
            </a:r>
            <a:r>
              <a:rPr sz="3200" spc="-18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request</a:t>
            </a:r>
            <a:r>
              <a:rPr sz="3200" spc="-18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9D2428"/>
                </a:solidFill>
                <a:latin typeface="Tahoma"/>
                <a:cs typeface="Tahoma"/>
              </a:rPr>
              <a:t>status.</a:t>
            </a:r>
            <a:r>
              <a:rPr sz="3200" spc="-18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95" dirty="0">
                <a:solidFill>
                  <a:srgbClr val="9D2428"/>
                </a:solidFill>
                <a:latin typeface="Tahoma"/>
                <a:cs typeface="Tahoma"/>
              </a:rPr>
              <a:t>By</a:t>
            </a:r>
            <a:r>
              <a:rPr sz="3200" spc="-26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automating </a:t>
            </a:r>
            <a:r>
              <a:rPr sz="3200" spc="-35" dirty="0">
                <a:solidFill>
                  <a:srgbClr val="9D2428"/>
                </a:solidFill>
                <a:latin typeface="Tahoma"/>
                <a:cs typeface="Tahoma"/>
              </a:rPr>
              <a:t>manual</a:t>
            </a:r>
            <a:r>
              <a:rPr sz="3200" spc="-18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35" dirty="0">
                <a:solidFill>
                  <a:srgbClr val="9D2428"/>
                </a:solidFill>
                <a:latin typeface="Tahoma"/>
                <a:cs typeface="Tahoma"/>
              </a:rPr>
              <a:t>processes,</a:t>
            </a:r>
            <a:r>
              <a:rPr sz="3200" spc="-18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the</a:t>
            </a:r>
            <a:r>
              <a:rPr sz="3200" spc="-18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system</a:t>
            </a:r>
            <a:r>
              <a:rPr sz="3200" spc="-18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reduces</a:t>
            </a:r>
            <a:r>
              <a:rPr sz="3200" spc="-18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35" dirty="0">
                <a:solidFill>
                  <a:srgbClr val="9D2428"/>
                </a:solidFill>
                <a:latin typeface="Tahoma"/>
                <a:cs typeface="Tahoma"/>
              </a:rPr>
              <a:t>errors,</a:t>
            </a:r>
            <a:r>
              <a:rPr sz="3200" spc="-18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improves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response</a:t>
            </a:r>
            <a:r>
              <a:rPr sz="3200" spc="-19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time</a:t>
            </a:r>
            <a:r>
              <a:rPr sz="3200" spc="-19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during</a:t>
            </a:r>
            <a:r>
              <a:rPr sz="3200" spc="-18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9D2428"/>
                </a:solidFill>
                <a:latin typeface="Tahoma"/>
                <a:cs typeface="Tahoma"/>
              </a:rPr>
              <a:t>emergencies,</a:t>
            </a:r>
            <a:r>
              <a:rPr sz="3200" spc="-19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and</a:t>
            </a:r>
            <a:r>
              <a:rPr sz="3200" spc="-19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9D2428"/>
                </a:solidFill>
                <a:latin typeface="Tahoma"/>
                <a:cs typeface="Tahoma"/>
              </a:rPr>
              <a:t>ensures</a:t>
            </a:r>
            <a:r>
              <a:rPr sz="3200" spc="-18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timely availability</a:t>
            </a:r>
            <a:r>
              <a:rPr sz="3200" spc="-22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70" dirty="0">
                <a:solidFill>
                  <a:srgbClr val="9D2428"/>
                </a:solidFill>
                <a:latin typeface="Tahoma"/>
                <a:cs typeface="Tahoma"/>
              </a:rPr>
              <a:t>of</a:t>
            </a:r>
            <a:r>
              <a:rPr sz="3200" spc="-20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blood.</a:t>
            </a:r>
            <a:r>
              <a:rPr sz="3200" spc="-24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This</a:t>
            </a:r>
            <a:r>
              <a:rPr sz="3200" spc="-13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application</a:t>
            </a:r>
            <a:r>
              <a:rPr sz="3200" spc="-14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provides</a:t>
            </a:r>
            <a:r>
              <a:rPr sz="3200" spc="-14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9D2428"/>
                </a:solidFill>
                <a:latin typeface="Tahoma"/>
                <a:cs typeface="Tahoma"/>
              </a:rPr>
              <a:t>a</a:t>
            </a:r>
            <a:r>
              <a:rPr sz="3200" spc="-13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user-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friendly</a:t>
            </a:r>
            <a:r>
              <a:rPr sz="3200" spc="-21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interface</a:t>
            </a:r>
            <a:r>
              <a:rPr sz="3200" spc="-12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for</a:t>
            </a:r>
            <a:r>
              <a:rPr sz="3200" spc="-19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55" dirty="0">
                <a:solidFill>
                  <a:srgbClr val="9D2428"/>
                </a:solidFill>
                <a:latin typeface="Tahoma"/>
                <a:cs typeface="Tahoma"/>
              </a:rPr>
              <a:t>managing</a:t>
            </a:r>
            <a:r>
              <a:rPr sz="3200" spc="-12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donors,</a:t>
            </a:r>
            <a:r>
              <a:rPr sz="3200" spc="-12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tracking</a:t>
            </a:r>
            <a:r>
              <a:rPr sz="3200" spc="-12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inventory </a:t>
            </a:r>
            <a:r>
              <a:rPr sz="3200" spc="-50" dirty="0">
                <a:solidFill>
                  <a:srgbClr val="9D2428"/>
                </a:solidFill>
                <a:latin typeface="Tahoma"/>
                <a:cs typeface="Tahoma"/>
              </a:rPr>
              <a:t>levels,</a:t>
            </a:r>
            <a:r>
              <a:rPr sz="3200" spc="-14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9D2428"/>
                </a:solidFill>
                <a:latin typeface="Tahoma"/>
                <a:cs typeface="Tahoma"/>
              </a:rPr>
              <a:t>handling</a:t>
            </a:r>
            <a:r>
              <a:rPr sz="3200" spc="-14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blood</a:t>
            </a:r>
            <a:r>
              <a:rPr sz="3200" spc="-14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35" dirty="0">
                <a:solidFill>
                  <a:srgbClr val="9D2428"/>
                </a:solidFill>
                <a:latin typeface="Tahoma"/>
                <a:cs typeface="Tahoma"/>
              </a:rPr>
              <a:t>requests,</a:t>
            </a:r>
            <a:r>
              <a:rPr sz="3200" spc="-14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and</a:t>
            </a:r>
            <a:r>
              <a:rPr sz="3200" spc="-14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9D2428"/>
                </a:solidFill>
                <a:latin typeface="Tahoma"/>
                <a:cs typeface="Tahoma"/>
              </a:rPr>
              <a:t>generating</a:t>
            </a:r>
            <a:r>
              <a:rPr sz="3200" spc="-14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reports</a:t>
            </a:r>
            <a:r>
              <a:rPr sz="3200" spc="-14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9D2428"/>
                </a:solidFill>
                <a:latin typeface="Tahoma"/>
                <a:cs typeface="Tahoma"/>
              </a:rPr>
              <a:t>for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better</a:t>
            </a:r>
            <a:r>
              <a:rPr sz="3200" spc="-5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9D2428"/>
                </a:solidFill>
                <a:latin typeface="Tahoma"/>
                <a:cs typeface="Tahoma"/>
              </a:rPr>
              <a:t>decision-</a:t>
            </a:r>
            <a:r>
              <a:rPr sz="3200" spc="-10" dirty="0">
                <a:solidFill>
                  <a:srgbClr val="9D2428"/>
                </a:solidFill>
                <a:latin typeface="Tahoma"/>
                <a:cs typeface="Tahoma"/>
              </a:rPr>
              <a:t>making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2911" y="6415800"/>
            <a:ext cx="1019175" cy="864869"/>
            <a:chOff x="2802911" y="6415800"/>
            <a:chExt cx="1019175" cy="864869"/>
          </a:xfrm>
        </p:grpSpPr>
        <p:sp>
          <p:nvSpPr>
            <p:cNvPr id="3" name="object 3"/>
            <p:cNvSpPr/>
            <p:nvPr/>
          </p:nvSpPr>
          <p:spPr>
            <a:xfrm>
              <a:off x="2826489" y="6415800"/>
              <a:ext cx="976630" cy="864869"/>
            </a:xfrm>
            <a:custGeom>
              <a:avLst/>
              <a:gdLst/>
              <a:ahLst/>
              <a:cxnLst/>
              <a:rect l="l" t="t" r="r" b="b"/>
              <a:pathLst>
                <a:path w="976629" h="864870">
                  <a:moveTo>
                    <a:pt x="488216" y="864818"/>
                  </a:moveTo>
                  <a:lnTo>
                    <a:pt x="452042" y="844041"/>
                  </a:lnTo>
                  <a:lnTo>
                    <a:pt x="396119" y="808668"/>
                  </a:lnTo>
                  <a:lnTo>
                    <a:pt x="361629" y="785083"/>
                  </a:lnTo>
                  <a:lnTo>
                    <a:pt x="324126" y="757815"/>
                  </a:lnTo>
                  <a:lnTo>
                    <a:pt x="284614" y="727051"/>
                  </a:lnTo>
                  <a:lnTo>
                    <a:pt x="244098" y="692977"/>
                  </a:lnTo>
                  <a:lnTo>
                    <a:pt x="203582" y="655778"/>
                  </a:lnTo>
                  <a:lnTo>
                    <a:pt x="164070" y="615642"/>
                  </a:lnTo>
                  <a:lnTo>
                    <a:pt x="126568" y="572755"/>
                  </a:lnTo>
                  <a:lnTo>
                    <a:pt x="92080" y="527304"/>
                  </a:lnTo>
                  <a:lnTo>
                    <a:pt x="61609" y="479474"/>
                  </a:lnTo>
                  <a:lnTo>
                    <a:pt x="36162" y="429453"/>
                  </a:lnTo>
                  <a:lnTo>
                    <a:pt x="16741" y="377426"/>
                  </a:lnTo>
                  <a:lnTo>
                    <a:pt x="4352" y="323581"/>
                  </a:lnTo>
                  <a:lnTo>
                    <a:pt x="0" y="268103"/>
                  </a:lnTo>
                  <a:lnTo>
                    <a:pt x="4319" y="219911"/>
                  </a:lnTo>
                  <a:lnTo>
                    <a:pt x="16773" y="174554"/>
                  </a:lnTo>
                  <a:lnTo>
                    <a:pt x="36603" y="132787"/>
                  </a:lnTo>
                  <a:lnTo>
                    <a:pt x="63053" y="95368"/>
                  </a:lnTo>
                  <a:lnTo>
                    <a:pt x="95366" y="63055"/>
                  </a:lnTo>
                  <a:lnTo>
                    <a:pt x="132783" y="36604"/>
                  </a:lnTo>
                  <a:lnTo>
                    <a:pt x="174548" y="16773"/>
                  </a:lnTo>
                  <a:lnTo>
                    <a:pt x="219904" y="4319"/>
                  </a:lnTo>
                  <a:lnTo>
                    <a:pt x="268092" y="0"/>
                  </a:lnTo>
                  <a:lnTo>
                    <a:pt x="321353" y="5293"/>
                  </a:lnTo>
                  <a:lnTo>
                    <a:pt x="371020" y="20482"/>
                  </a:lnTo>
                  <a:lnTo>
                    <a:pt x="416069" y="44535"/>
                  </a:lnTo>
                  <a:lnTo>
                    <a:pt x="455475" y="76416"/>
                  </a:lnTo>
                  <a:lnTo>
                    <a:pt x="488216" y="115091"/>
                  </a:lnTo>
                  <a:lnTo>
                    <a:pt x="520956" y="76416"/>
                  </a:lnTo>
                  <a:lnTo>
                    <a:pt x="560360" y="44535"/>
                  </a:lnTo>
                  <a:lnTo>
                    <a:pt x="605405" y="20482"/>
                  </a:lnTo>
                  <a:lnTo>
                    <a:pt x="655065" y="5293"/>
                  </a:lnTo>
                  <a:lnTo>
                    <a:pt x="708316" y="0"/>
                  </a:lnTo>
                  <a:lnTo>
                    <a:pt x="756511" y="4319"/>
                  </a:lnTo>
                  <a:lnTo>
                    <a:pt x="801872" y="16773"/>
                  </a:lnTo>
                  <a:lnTo>
                    <a:pt x="843641" y="36604"/>
                  </a:lnTo>
                  <a:lnTo>
                    <a:pt x="881061" y="63055"/>
                  </a:lnTo>
                  <a:lnTo>
                    <a:pt x="913376" y="95368"/>
                  </a:lnTo>
                  <a:lnTo>
                    <a:pt x="939828" y="132787"/>
                  </a:lnTo>
                  <a:lnTo>
                    <a:pt x="959660" y="174554"/>
                  </a:lnTo>
                  <a:lnTo>
                    <a:pt x="972114" y="219911"/>
                  </a:lnTo>
                  <a:lnTo>
                    <a:pt x="976434" y="268103"/>
                  </a:lnTo>
                  <a:lnTo>
                    <a:pt x="972080" y="323581"/>
                  </a:lnTo>
                  <a:lnTo>
                    <a:pt x="959691" y="377426"/>
                  </a:lnTo>
                  <a:lnTo>
                    <a:pt x="940269" y="429453"/>
                  </a:lnTo>
                  <a:lnTo>
                    <a:pt x="914820" y="479474"/>
                  </a:lnTo>
                  <a:lnTo>
                    <a:pt x="884349" y="527304"/>
                  </a:lnTo>
                  <a:lnTo>
                    <a:pt x="849859" y="572755"/>
                  </a:lnTo>
                  <a:lnTo>
                    <a:pt x="812355" y="615642"/>
                  </a:lnTo>
                  <a:lnTo>
                    <a:pt x="772842" y="655778"/>
                  </a:lnTo>
                  <a:lnTo>
                    <a:pt x="732325" y="692977"/>
                  </a:lnTo>
                  <a:lnTo>
                    <a:pt x="691807" y="727051"/>
                  </a:lnTo>
                  <a:lnTo>
                    <a:pt x="652294" y="757815"/>
                  </a:lnTo>
                  <a:lnTo>
                    <a:pt x="614791" y="785083"/>
                  </a:lnTo>
                  <a:lnTo>
                    <a:pt x="580301" y="808668"/>
                  </a:lnTo>
                  <a:lnTo>
                    <a:pt x="524380" y="844041"/>
                  </a:lnTo>
                  <a:lnTo>
                    <a:pt x="492569" y="862446"/>
                  </a:lnTo>
                  <a:lnTo>
                    <a:pt x="488216" y="864818"/>
                  </a:lnTo>
                  <a:close/>
                </a:path>
              </a:pathLst>
            </a:custGeom>
            <a:solidFill>
              <a:srgbClr val="9D24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2911" y="6520610"/>
              <a:ext cx="1019175" cy="646430"/>
            </a:xfrm>
            <a:custGeom>
              <a:avLst/>
              <a:gdLst/>
              <a:ahLst/>
              <a:cxnLst/>
              <a:rect l="l" t="t" r="r" b="b"/>
              <a:pathLst>
                <a:path w="1019175" h="646429">
                  <a:moveTo>
                    <a:pt x="488294" y="645969"/>
                  </a:moveTo>
                  <a:lnTo>
                    <a:pt x="478973" y="645969"/>
                  </a:lnTo>
                  <a:lnTo>
                    <a:pt x="471013" y="639239"/>
                  </a:lnTo>
                  <a:lnTo>
                    <a:pt x="413680" y="296499"/>
                  </a:lnTo>
                  <a:lnTo>
                    <a:pt x="385707" y="372476"/>
                  </a:lnTo>
                  <a:lnTo>
                    <a:pt x="382950" y="379989"/>
                  </a:lnTo>
                  <a:lnTo>
                    <a:pt x="375807" y="384973"/>
                  </a:lnTo>
                  <a:lnTo>
                    <a:pt x="19056" y="384973"/>
                  </a:lnTo>
                  <a:lnTo>
                    <a:pt x="11631" y="383473"/>
                  </a:lnTo>
                  <a:lnTo>
                    <a:pt x="5567" y="379383"/>
                  </a:lnTo>
                  <a:lnTo>
                    <a:pt x="1478" y="373318"/>
                  </a:lnTo>
                  <a:lnTo>
                    <a:pt x="0" y="365894"/>
                  </a:lnTo>
                  <a:lnTo>
                    <a:pt x="1478" y="358469"/>
                  </a:lnTo>
                  <a:lnTo>
                    <a:pt x="5567" y="352404"/>
                  </a:lnTo>
                  <a:lnTo>
                    <a:pt x="11631" y="348314"/>
                  </a:lnTo>
                  <a:lnTo>
                    <a:pt x="19056" y="346814"/>
                  </a:lnTo>
                  <a:lnTo>
                    <a:pt x="354505" y="346814"/>
                  </a:lnTo>
                  <a:lnTo>
                    <a:pt x="402722" y="215800"/>
                  </a:lnTo>
                  <a:lnTo>
                    <a:pt x="405704" y="207666"/>
                  </a:lnTo>
                  <a:lnTo>
                    <a:pt x="413913" y="202470"/>
                  </a:lnTo>
                  <a:lnTo>
                    <a:pt x="422397" y="203391"/>
                  </a:lnTo>
                  <a:lnTo>
                    <a:pt x="431017" y="204202"/>
                  </a:lnTo>
                  <a:lnTo>
                    <a:pt x="438014" y="210694"/>
                  </a:lnTo>
                  <a:lnTo>
                    <a:pt x="439439" y="219241"/>
                  </a:lnTo>
                  <a:lnTo>
                    <a:pt x="487287" y="505245"/>
                  </a:lnTo>
                  <a:lnTo>
                    <a:pt x="562196" y="6891"/>
                  </a:lnTo>
                  <a:lnTo>
                    <a:pt x="570228" y="0"/>
                  </a:lnTo>
                  <a:lnTo>
                    <a:pt x="579859" y="0"/>
                  </a:lnTo>
                  <a:lnTo>
                    <a:pt x="589518" y="147"/>
                  </a:lnTo>
                  <a:lnTo>
                    <a:pt x="597482" y="7349"/>
                  </a:lnTo>
                  <a:lnTo>
                    <a:pt x="641872" y="382998"/>
                  </a:lnTo>
                  <a:lnTo>
                    <a:pt x="649975" y="359644"/>
                  </a:lnTo>
                  <a:lnTo>
                    <a:pt x="652631" y="351958"/>
                  </a:lnTo>
                  <a:lnTo>
                    <a:pt x="659876" y="346814"/>
                  </a:lnTo>
                  <a:lnTo>
                    <a:pt x="1004521" y="346814"/>
                  </a:lnTo>
                  <a:lnTo>
                    <a:pt x="1011947" y="348314"/>
                  </a:lnTo>
                  <a:lnTo>
                    <a:pt x="1018013" y="352404"/>
                  </a:lnTo>
                  <a:lnTo>
                    <a:pt x="1019174" y="354126"/>
                  </a:lnTo>
                  <a:lnTo>
                    <a:pt x="1019174" y="377661"/>
                  </a:lnTo>
                  <a:lnTo>
                    <a:pt x="1018013" y="379383"/>
                  </a:lnTo>
                  <a:lnTo>
                    <a:pt x="1011947" y="383473"/>
                  </a:lnTo>
                  <a:lnTo>
                    <a:pt x="1004521" y="384973"/>
                  </a:lnTo>
                  <a:lnTo>
                    <a:pt x="681570" y="384973"/>
                  </a:lnTo>
                  <a:lnTo>
                    <a:pt x="650695" y="473968"/>
                  </a:lnTo>
                  <a:lnTo>
                    <a:pt x="647786" y="482373"/>
                  </a:lnTo>
                  <a:lnTo>
                    <a:pt x="639506" y="487642"/>
                  </a:lnTo>
                  <a:lnTo>
                    <a:pt x="621776" y="485730"/>
                  </a:lnTo>
                  <a:lnTo>
                    <a:pt x="614768" y="478785"/>
                  </a:lnTo>
                  <a:lnTo>
                    <a:pt x="577396" y="162488"/>
                  </a:lnTo>
                  <a:lnTo>
                    <a:pt x="505764" y="639004"/>
                  </a:lnTo>
                  <a:lnTo>
                    <a:pt x="497831" y="645898"/>
                  </a:lnTo>
                  <a:lnTo>
                    <a:pt x="488294" y="64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834704" y="7170983"/>
            <a:ext cx="1983739" cy="143827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4765" marR="5080" indent="-12700" algn="just">
              <a:lnSpc>
                <a:spcPts val="3479"/>
              </a:lnSpc>
              <a:spcBef>
                <a:spcPts val="790"/>
              </a:spcBef>
              <a:buSzPct val="97101"/>
              <a:buChar char="•"/>
              <a:tabLst>
                <a:tab pos="24765" algn="l"/>
                <a:tab pos="267335" algn="l"/>
              </a:tabLst>
            </a:pPr>
            <a:r>
              <a:rPr sz="3450" spc="45" dirty="0">
                <a:solidFill>
                  <a:srgbClr val="9D2428"/>
                </a:solidFill>
                <a:latin typeface="Tahoma"/>
                <a:cs typeface="Tahoma"/>
              </a:rPr>
              <a:t>	Maintain </a:t>
            </a:r>
            <a:r>
              <a:rPr sz="3450" spc="-10" dirty="0">
                <a:solidFill>
                  <a:srgbClr val="9D2428"/>
                </a:solidFill>
                <a:latin typeface="Tahoma"/>
                <a:cs typeface="Tahoma"/>
              </a:rPr>
              <a:t>registered </a:t>
            </a:r>
            <a:r>
              <a:rPr sz="3450" dirty="0">
                <a:solidFill>
                  <a:srgbClr val="9D2428"/>
                </a:solidFill>
                <a:latin typeface="Tahoma"/>
                <a:cs typeface="Tahoma"/>
              </a:rPr>
              <a:t>donor</a:t>
            </a:r>
            <a:r>
              <a:rPr sz="3450" spc="-5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450" spc="-20" dirty="0">
                <a:solidFill>
                  <a:srgbClr val="9D2428"/>
                </a:solidFill>
                <a:latin typeface="Tahoma"/>
                <a:cs typeface="Tahoma"/>
              </a:rPr>
              <a:t>list</a:t>
            </a:r>
            <a:endParaRPr sz="34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5883" y="5919220"/>
            <a:ext cx="14061440" cy="0"/>
          </a:xfrm>
          <a:custGeom>
            <a:avLst/>
            <a:gdLst/>
            <a:ahLst/>
            <a:cxnLst/>
            <a:rect l="l" t="t" r="r" b="b"/>
            <a:pathLst>
              <a:path w="14061440">
                <a:moveTo>
                  <a:pt x="0" y="0"/>
                </a:moveTo>
                <a:lnTo>
                  <a:pt x="14061402" y="0"/>
                </a:lnTo>
              </a:path>
            </a:pathLst>
          </a:custGeom>
          <a:ln w="38099">
            <a:solidFill>
              <a:srgbClr val="9D24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275663" y="4680196"/>
            <a:ext cx="1019175" cy="864869"/>
            <a:chOff x="6275663" y="4680196"/>
            <a:chExt cx="1019175" cy="864869"/>
          </a:xfrm>
        </p:grpSpPr>
        <p:sp>
          <p:nvSpPr>
            <p:cNvPr id="8" name="object 8"/>
            <p:cNvSpPr/>
            <p:nvPr/>
          </p:nvSpPr>
          <p:spPr>
            <a:xfrm>
              <a:off x="6299241" y="4680196"/>
              <a:ext cx="976630" cy="864869"/>
            </a:xfrm>
            <a:custGeom>
              <a:avLst/>
              <a:gdLst/>
              <a:ahLst/>
              <a:cxnLst/>
              <a:rect l="l" t="t" r="r" b="b"/>
              <a:pathLst>
                <a:path w="976629" h="864870">
                  <a:moveTo>
                    <a:pt x="488216" y="864818"/>
                  </a:moveTo>
                  <a:lnTo>
                    <a:pt x="452042" y="844041"/>
                  </a:lnTo>
                  <a:lnTo>
                    <a:pt x="396119" y="808668"/>
                  </a:lnTo>
                  <a:lnTo>
                    <a:pt x="361629" y="785083"/>
                  </a:lnTo>
                  <a:lnTo>
                    <a:pt x="324126" y="757815"/>
                  </a:lnTo>
                  <a:lnTo>
                    <a:pt x="284614" y="727051"/>
                  </a:lnTo>
                  <a:lnTo>
                    <a:pt x="244098" y="692977"/>
                  </a:lnTo>
                  <a:lnTo>
                    <a:pt x="203582" y="655778"/>
                  </a:lnTo>
                  <a:lnTo>
                    <a:pt x="164070" y="615642"/>
                  </a:lnTo>
                  <a:lnTo>
                    <a:pt x="126568" y="572755"/>
                  </a:lnTo>
                  <a:lnTo>
                    <a:pt x="92080" y="527304"/>
                  </a:lnTo>
                  <a:lnTo>
                    <a:pt x="61609" y="479474"/>
                  </a:lnTo>
                  <a:lnTo>
                    <a:pt x="36162" y="429453"/>
                  </a:lnTo>
                  <a:lnTo>
                    <a:pt x="16741" y="377426"/>
                  </a:lnTo>
                  <a:lnTo>
                    <a:pt x="4352" y="323581"/>
                  </a:lnTo>
                  <a:lnTo>
                    <a:pt x="0" y="268103"/>
                  </a:lnTo>
                  <a:lnTo>
                    <a:pt x="4319" y="219911"/>
                  </a:lnTo>
                  <a:lnTo>
                    <a:pt x="16773" y="174554"/>
                  </a:lnTo>
                  <a:lnTo>
                    <a:pt x="36603" y="132787"/>
                  </a:lnTo>
                  <a:lnTo>
                    <a:pt x="63053" y="95368"/>
                  </a:lnTo>
                  <a:lnTo>
                    <a:pt x="95366" y="63055"/>
                  </a:lnTo>
                  <a:lnTo>
                    <a:pt x="132783" y="36604"/>
                  </a:lnTo>
                  <a:lnTo>
                    <a:pt x="174548" y="16773"/>
                  </a:lnTo>
                  <a:lnTo>
                    <a:pt x="219904" y="4319"/>
                  </a:lnTo>
                  <a:lnTo>
                    <a:pt x="268092" y="0"/>
                  </a:lnTo>
                  <a:lnTo>
                    <a:pt x="321353" y="5293"/>
                  </a:lnTo>
                  <a:lnTo>
                    <a:pt x="371020" y="20482"/>
                  </a:lnTo>
                  <a:lnTo>
                    <a:pt x="416069" y="44535"/>
                  </a:lnTo>
                  <a:lnTo>
                    <a:pt x="455475" y="76416"/>
                  </a:lnTo>
                  <a:lnTo>
                    <a:pt x="488216" y="115091"/>
                  </a:lnTo>
                  <a:lnTo>
                    <a:pt x="520956" y="76416"/>
                  </a:lnTo>
                  <a:lnTo>
                    <a:pt x="560360" y="44535"/>
                  </a:lnTo>
                  <a:lnTo>
                    <a:pt x="605405" y="20482"/>
                  </a:lnTo>
                  <a:lnTo>
                    <a:pt x="655065" y="5293"/>
                  </a:lnTo>
                  <a:lnTo>
                    <a:pt x="708316" y="0"/>
                  </a:lnTo>
                  <a:lnTo>
                    <a:pt x="756511" y="4319"/>
                  </a:lnTo>
                  <a:lnTo>
                    <a:pt x="801872" y="16773"/>
                  </a:lnTo>
                  <a:lnTo>
                    <a:pt x="843641" y="36604"/>
                  </a:lnTo>
                  <a:lnTo>
                    <a:pt x="881061" y="63055"/>
                  </a:lnTo>
                  <a:lnTo>
                    <a:pt x="913376" y="95368"/>
                  </a:lnTo>
                  <a:lnTo>
                    <a:pt x="939828" y="132787"/>
                  </a:lnTo>
                  <a:lnTo>
                    <a:pt x="959660" y="174554"/>
                  </a:lnTo>
                  <a:lnTo>
                    <a:pt x="972114" y="219911"/>
                  </a:lnTo>
                  <a:lnTo>
                    <a:pt x="976434" y="268103"/>
                  </a:lnTo>
                  <a:lnTo>
                    <a:pt x="972080" y="323581"/>
                  </a:lnTo>
                  <a:lnTo>
                    <a:pt x="959691" y="377426"/>
                  </a:lnTo>
                  <a:lnTo>
                    <a:pt x="940269" y="429453"/>
                  </a:lnTo>
                  <a:lnTo>
                    <a:pt x="914820" y="479474"/>
                  </a:lnTo>
                  <a:lnTo>
                    <a:pt x="884349" y="527304"/>
                  </a:lnTo>
                  <a:lnTo>
                    <a:pt x="849859" y="572755"/>
                  </a:lnTo>
                  <a:lnTo>
                    <a:pt x="812355" y="615642"/>
                  </a:lnTo>
                  <a:lnTo>
                    <a:pt x="772842" y="655778"/>
                  </a:lnTo>
                  <a:lnTo>
                    <a:pt x="732325" y="692977"/>
                  </a:lnTo>
                  <a:lnTo>
                    <a:pt x="691807" y="727051"/>
                  </a:lnTo>
                  <a:lnTo>
                    <a:pt x="652294" y="757815"/>
                  </a:lnTo>
                  <a:lnTo>
                    <a:pt x="614791" y="785083"/>
                  </a:lnTo>
                  <a:lnTo>
                    <a:pt x="580301" y="808668"/>
                  </a:lnTo>
                  <a:lnTo>
                    <a:pt x="524380" y="844041"/>
                  </a:lnTo>
                  <a:lnTo>
                    <a:pt x="492569" y="862446"/>
                  </a:lnTo>
                  <a:lnTo>
                    <a:pt x="488216" y="864818"/>
                  </a:lnTo>
                  <a:close/>
                </a:path>
              </a:pathLst>
            </a:custGeom>
            <a:solidFill>
              <a:srgbClr val="9D24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75663" y="4785007"/>
              <a:ext cx="1019175" cy="646430"/>
            </a:xfrm>
            <a:custGeom>
              <a:avLst/>
              <a:gdLst/>
              <a:ahLst/>
              <a:cxnLst/>
              <a:rect l="l" t="t" r="r" b="b"/>
              <a:pathLst>
                <a:path w="1019175" h="646429">
                  <a:moveTo>
                    <a:pt x="488294" y="645969"/>
                  </a:moveTo>
                  <a:lnTo>
                    <a:pt x="478973" y="645969"/>
                  </a:lnTo>
                  <a:lnTo>
                    <a:pt x="471013" y="639239"/>
                  </a:lnTo>
                  <a:lnTo>
                    <a:pt x="413680" y="296499"/>
                  </a:lnTo>
                  <a:lnTo>
                    <a:pt x="385707" y="372476"/>
                  </a:lnTo>
                  <a:lnTo>
                    <a:pt x="382950" y="379989"/>
                  </a:lnTo>
                  <a:lnTo>
                    <a:pt x="375807" y="384973"/>
                  </a:lnTo>
                  <a:lnTo>
                    <a:pt x="19056" y="384973"/>
                  </a:lnTo>
                  <a:lnTo>
                    <a:pt x="11632" y="383473"/>
                  </a:lnTo>
                  <a:lnTo>
                    <a:pt x="5567" y="379383"/>
                  </a:lnTo>
                  <a:lnTo>
                    <a:pt x="1478" y="373318"/>
                  </a:lnTo>
                  <a:lnTo>
                    <a:pt x="0" y="365894"/>
                  </a:lnTo>
                  <a:lnTo>
                    <a:pt x="1478" y="358469"/>
                  </a:lnTo>
                  <a:lnTo>
                    <a:pt x="5567" y="352404"/>
                  </a:lnTo>
                  <a:lnTo>
                    <a:pt x="11632" y="348314"/>
                  </a:lnTo>
                  <a:lnTo>
                    <a:pt x="19056" y="346814"/>
                  </a:lnTo>
                  <a:lnTo>
                    <a:pt x="354506" y="346814"/>
                  </a:lnTo>
                  <a:lnTo>
                    <a:pt x="402722" y="215800"/>
                  </a:lnTo>
                  <a:lnTo>
                    <a:pt x="405704" y="207666"/>
                  </a:lnTo>
                  <a:lnTo>
                    <a:pt x="413913" y="202470"/>
                  </a:lnTo>
                  <a:lnTo>
                    <a:pt x="422397" y="203391"/>
                  </a:lnTo>
                  <a:lnTo>
                    <a:pt x="431017" y="204202"/>
                  </a:lnTo>
                  <a:lnTo>
                    <a:pt x="438015" y="210694"/>
                  </a:lnTo>
                  <a:lnTo>
                    <a:pt x="439439" y="219241"/>
                  </a:lnTo>
                  <a:lnTo>
                    <a:pt x="487287" y="505245"/>
                  </a:lnTo>
                  <a:lnTo>
                    <a:pt x="562196" y="6891"/>
                  </a:lnTo>
                  <a:lnTo>
                    <a:pt x="570229" y="0"/>
                  </a:lnTo>
                  <a:lnTo>
                    <a:pt x="579859" y="0"/>
                  </a:lnTo>
                  <a:lnTo>
                    <a:pt x="589519" y="147"/>
                  </a:lnTo>
                  <a:lnTo>
                    <a:pt x="597482" y="7349"/>
                  </a:lnTo>
                  <a:lnTo>
                    <a:pt x="641872" y="382998"/>
                  </a:lnTo>
                  <a:lnTo>
                    <a:pt x="649976" y="359644"/>
                  </a:lnTo>
                  <a:lnTo>
                    <a:pt x="652631" y="351958"/>
                  </a:lnTo>
                  <a:lnTo>
                    <a:pt x="659876" y="346814"/>
                  </a:lnTo>
                  <a:lnTo>
                    <a:pt x="1004521" y="346814"/>
                  </a:lnTo>
                  <a:lnTo>
                    <a:pt x="1011947" y="348314"/>
                  </a:lnTo>
                  <a:lnTo>
                    <a:pt x="1018013" y="352404"/>
                  </a:lnTo>
                  <a:lnTo>
                    <a:pt x="1019174" y="354126"/>
                  </a:lnTo>
                  <a:lnTo>
                    <a:pt x="1019174" y="377661"/>
                  </a:lnTo>
                  <a:lnTo>
                    <a:pt x="1018013" y="379383"/>
                  </a:lnTo>
                  <a:lnTo>
                    <a:pt x="1011947" y="383473"/>
                  </a:lnTo>
                  <a:lnTo>
                    <a:pt x="1004521" y="384973"/>
                  </a:lnTo>
                  <a:lnTo>
                    <a:pt x="681570" y="384973"/>
                  </a:lnTo>
                  <a:lnTo>
                    <a:pt x="650695" y="473968"/>
                  </a:lnTo>
                  <a:lnTo>
                    <a:pt x="647786" y="482373"/>
                  </a:lnTo>
                  <a:lnTo>
                    <a:pt x="639506" y="487642"/>
                  </a:lnTo>
                  <a:lnTo>
                    <a:pt x="621776" y="485730"/>
                  </a:lnTo>
                  <a:lnTo>
                    <a:pt x="614769" y="478785"/>
                  </a:lnTo>
                  <a:lnTo>
                    <a:pt x="577396" y="162488"/>
                  </a:lnTo>
                  <a:lnTo>
                    <a:pt x="505764" y="639004"/>
                  </a:lnTo>
                  <a:lnTo>
                    <a:pt x="497831" y="645898"/>
                  </a:lnTo>
                  <a:lnTo>
                    <a:pt x="488294" y="64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29862" y="2889131"/>
            <a:ext cx="3516629" cy="9969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67335" marR="5080" indent="-255270">
              <a:lnSpc>
                <a:spcPts val="3479"/>
              </a:lnSpc>
              <a:spcBef>
                <a:spcPts val="790"/>
              </a:spcBef>
              <a:buSzPct val="97101"/>
              <a:buChar char="•"/>
              <a:tabLst>
                <a:tab pos="499745" algn="l"/>
              </a:tabLst>
            </a:pPr>
            <a:r>
              <a:rPr sz="3450" spc="90" dirty="0">
                <a:solidFill>
                  <a:srgbClr val="9D2428"/>
                </a:solidFill>
                <a:latin typeface="Tahoma"/>
                <a:cs typeface="Tahoma"/>
              </a:rPr>
              <a:t>Add</a:t>
            </a:r>
            <a:r>
              <a:rPr sz="3450" spc="-21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9D2428"/>
                </a:solidFill>
                <a:latin typeface="Tahoma"/>
                <a:cs typeface="Tahoma"/>
              </a:rPr>
              <a:t>and</a:t>
            </a:r>
            <a:r>
              <a:rPr sz="3450" spc="-21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450" spc="-45" dirty="0">
                <a:solidFill>
                  <a:srgbClr val="9D2428"/>
                </a:solidFill>
                <a:latin typeface="Tahoma"/>
                <a:cs typeface="Tahoma"/>
              </a:rPr>
              <a:t>manage 	</a:t>
            </a:r>
            <a:r>
              <a:rPr sz="3450" dirty="0">
                <a:solidFill>
                  <a:srgbClr val="9D2428"/>
                </a:solidFill>
                <a:latin typeface="Tahoma"/>
                <a:cs typeface="Tahoma"/>
              </a:rPr>
              <a:t>donor</a:t>
            </a:r>
            <a:r>
              <a:rPr sz="3450" spc="-5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9D2428"/>
                </a:solidFill>
                <a:latin typeface="Tahoma"/>
                <a:cs typeface="Tahoma"/>
              </a:rPr>
              <a:t>details</a:t>
            </a:r>
            <a:endParaRPr sz="34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480971" y="6415800"/>
            <a:ext cx="1019175" cy="864869"/>
            <a:chOff x="10480971" y="6415800"/>
            <a:chExt cx="1019175" cy="864869"/>
          </a:xfrm>
        </p:grpSpPr>
        <p:sp>
          <p:nvSpPr>
            <p:cNvPr id="12" name="object 12"/>
            <p:cNvSpPr/>
            <p:nvPr/>
          </p:nvSpPr>
          <p:spPr>
            <a:xfrm>
              <a:off x="10504549" y="6415800"/>
              <a:ext cx="976630" cy="864869"/>
            </a:xfrm>
            <a:custGeom>
              <a:avLst/>
              <a:gdLst/>
              <a:ahLst/>
              <a:cxnLst/>
              <a:rect l="l" t="t" r="r" b="b"/>
              <a:pathLst>
                <a:path w="976629" h="864870">
                  <a:moveTo>
                    <a:pt x="488216" y="864818"/>
                  </a:moveTo>
                  <a:lnTo>
                    <a:pt x="452042" y="844041"/>
                  </a:lnTo>
                  <a:lnTo>
                    <a:pt x="396119" y="808668"/>
                  </a:lnTo>
                  <a:lnTo>
                    <a:pt x="361629" y="785083"/>
                  </a:lnTo>
                  <a:lnTo>
                    <a:pt x="324126" y="757815"/>
                  </a:lnTo>
                  <a:lnTo>
                    <a:pt x="284614" y="727051"/>
                  </a:lnTo>
                  <a:lnTo>
                    <a:pt x="244098" y="692977"/>
                  </a:lnTo>
                  <a:lnTo>
                    <a:pt x="203582" y="655778"/>
                  </a:lnTo>
                  <a:lnTo>
                    <a:pt x="164070" y="615642"/>
                  </a:lnTo>
                  <a:lnTo>
                    <a:pt x="126568" y="572755"/>
                  </a:lnTo>
                  <a:lnTo>
                    <a:pt x="92080" y="527304"/>
                  </a:lnTo>
                  <a:lnTo>
                    <a:pt x="61609" y="479474"/>
                  </a:lnTo>
                  <a:lnTo>
                    <a:pt x="36162" y="429453"/>
                  </a:lnTo>
                  <a:lnTo>
                    <a:pt x="16741" y="377426"/>
                  </a:lnTo>
                  <a:lnTo>
                    <a:pt x="4352" y="323581"/>
                  </a:lnTo>
                  <a:lnTo>
                    <a:pt x="0" y="268103"/>
                  </a:lnTo>
                  <a:lnTo>
                    <a:pt x="4319" y="219911"/>
                  </a:lnTo>
                  <a:lnTo>
                    <a:pt x="16773" y="174554"/>
                  </a:lnTo>
                  <a:lnTo>
                    <a:pt x="36603" y="132787"/>
                  </a:lnTo>
                  <a:lnTo>
                    <a:pt x="63053" y="95368"/>
                  </a:lnTo>
                  <a:lnTo>
                    <a:pt x="95366" y="63055"/>
                  </a:lnTo>
                  <a:lnTo>
                    <a:pt x="132783" y="36604"/>
                  </a:lnTo>
                  <a:lnTo>
                    <a:pt x="174548" y="16773"/>
                  </a:lnTo>
                  <a:lnTo>
                    <a:pt x="219904" y="4319"/>
                  </a:lnTo>
                  <a:lnTo>
                    <a:pt x="268092" y="0"/>
                  </a:lnTo>
                  <a:lnTo>
                    <a:pt x="321353" y="5293"/>
                  </a:lnTo>
                  <a:lnTo>
                    <a:pt x="371020" y="20482"/>
                  </a:lnTo>
                  <a:lnTo>
                    <a:pt x="416069" y="44535"/>
                  </a:lnTo>
                  <a:lnTo>
                    <a:pt x="455475" y="76416"/>
                  </a:lnTo>
                  <a:lnTo>
                    <a:pt x="488216" y="115091"/>
                  </a:lnTo>
                  <a:lnTo>
                    <a:pt x="520956" y="76416"/>
                  </a:lnTo>
                  <a:lnTo>
                    <a:pt x="560360" y="44535"/>
                  </a:lnTo>
                  <a:lnTo>
                    <a:pt x="605405" y="20482"/>
                  </a:lnTo>
                  <a:lnTo>
                    <a:pt x="655065" y="5293"/>
                  </a:lnTo>
                  <a:lnTo>
                    <a:pt x="708316" y="0"/>
                  </a:lnTo>
                  <a:lnTo>
                    <a:pt x="756511" y="4319"/>
                  </a:lnTo>
                  <a:lnTo>
                    <a:pt x="801872" y="16773"/>
                  </a:lnTo>
                  <a:lnTo>
                    <a:pt x="843641" y="36604"/>
                  </a:lnTo>
                  <a:lnTo>
                    <a:pt x="881061" y="63055"/>
                  </a:lnTo>
                  <a:lnTo>
                    <a:pt x="913376" y="95368"/>
                  </a:lnTo>
                  <a:lnTo>
                    <a:pt x="939828" y="132787"/>
                  </a:lnTo>
                  <a:lnTo>
                    <a:pt x="959660" y="174554"/>
                  </a:lnTo>
                  <a:lnTo>
                    <a:pt x="972114" y="219911"/>
                  </a:lnTo>
                  <a:lnTo>
                    <a:pt x="976434" y="268103"/>
                  </a:lnTo>
                  <a:lnTo>
                    <a:pt x="972080" y="323581"/>
                  </a:lnTo>
                  <a:lnTo>
                    <a:pt x="959691" y="377426"/>
                  </a:lnTo>
                  <a:lnTo>
                    <a:pt x="940269" y="429453"/>
                  </a:lnTo>
                  <a:lnTo>
                    <a:pt x="914820" y="479474"/>
                  </a:lnTo>
                  <a:lnTo>
                    <a:pt x="884349" y="527304"/>
                  </a:lnTo>
                  <a:lnTo>
                    <a:pt x="849859" y="572755"/>
                  </a:lnTo>
                  <a:lnTo>
                    <a:pt x="812355" y="615642"/>
                  </a:lnTo>
                  <a:lnTo>
                    <a:pt x="772842" y="655778"/>
                  </a:lnTo>
                  <a:lnTo>
                    <a:pt x="732325" y="692977"/>
                  </a:lnTo>
                  <a:lnTo>
                    <a:pt x="691807" y="727051"/>
                  </a:lnTo>
                  <a:lnTo>
                    <a:pt x="652294" y="757815"/>
                  </a:lnTo>
                  <a:lnTo>
                    <a:pt x="614791" y="785083"/>
                  </a:lnTo>
                  <a:lnTo>
                    <a:pt x="580301" y="808668"/>
                  </a:lnTo>
                  <a:lnTo>
                    <a:pt x="524380" y="844041"/>
                  </a:lnTo>
                  <a:lnTo>
                    <a:pt x="492569" y="862446"/>
                  </a:lnTo>
                  <a:lnTo>
                    <a:pt x="488216" y="864818"/>
                  </a:lnTo>
                  <a:close/>
                </a:path>
              </a:pathLst>
            </a:custGeom>
            <a:solidFill>
              <a:srgbClr val="9D24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480971" y="6520610"/>
              <a:ext cx="1019175" cy="646430"/>
            </a:xfrm>
            <a:custGeom>
              <a:avLst/>
              <a:gdLst/>
              <a:ahLst/>
              <a:cxnLst/>
              <a:rect l="l" t="t" r="r" b="b"/>
              <a:pathLst>
                <a:path w="1019175" h="646429">
                  <a:moveTo>
                    <a:pt x="488293" y="645969"/>
                  </a:moveTo>
                  <a:lnTo>
                    <a:pt x="478972" y="645969"/>
                  </a:lnTo>
                  <a:lnTo>
                    <a:pt x="471013" y="639239"/>
                  </a:lnTo>
                  <a:lnTo>
                    <a:pt x="413680" y="296499"/>
                  </a:lnTo>
                  <a:lnTo>
                    <a:pt x="385707" y="372476"/>
                  </a:lnTo>
                  <a:lnTo>
                    <a:pt x="382950" y="379989"/>
                  </a:lnTo>
                  <a:lnTo>
                    <a:pt x="375807" y="384973"/>
                  </a:lnTo>
                  <a:lnTo>
                    <a:pt x="19055" y="384973"/>
                  </a:lnTo>
                  <a:lnTo>
                    <a:pt x="11631" y="383473"/>
                  </a:lnTo>
                  <a:lnTo>
                    <a:pt x="5567" y="379383"/>
                  </a:lnTo>
                  <a:lnTo>
                    <a:pt x="1478" y="373318"/>
                  </a:lnTo>
                  <a:lnTo>
                    <a:pt x="0" y="365894"/>
                  </a:lnTo>
                  <a:lnTo>
                    <a:pt x="1478" y="358469"/>
                  </a:lnTo>
                  <a:lnTo>
                    <a:pt x="5567" y="352404"/>
                  </a:lnTo>
                  <a:lnTo>
                    <a:pt x="11631" y="348314"/>
                  </a:lnTo>
                  <a:lnTo>
                    <a:pt x="19055" y="346814"/>
                  </a:lnTo>
                  <a:lnTo>
                    <a:pt x="354505" y="346814"/>
                  </a:lnTo>
                  <a:lnTo>
                    <a:pt x="402722" y="215800"/>
                  </a:lnTo>
                  <a:lnTo>
                    <a:pt x="405704" y="207666"/>
                  </a:lnTo>
                  <a:lnTo>
                    <a:pt x="413913" y="202470"/>
                  </a:lnTo>
                  <a:lnTo>
                    <a:pt x="422397" y="203391"/>
                  </a:lnTo>
                  <a:lnTo>
                    <a:pt x="431017" y="204202"/>
                  </a:lnTo>
                  <a:lnTo>
                    <a:pt x="438014" y="210694"/>
                  </a:lnTo>
                  <a:lnTo>
                    <a:pt x="439438" y="219241"/>
                  </a:lnTo>
                  <a:lnTo>
                    <a:pt x="487286" y="505245"/>
                  </a:lnTo>
                  <a:lnTo>
                    <a:pt x="562196" y="6891"/>
                  </a:lnTo>
                  <a:lnTo>
                    <a:pt x="570228" y="0"/>
                  </a:lnTo>
                  <a:lnTo>
                    <a:pt x="579859" y="0"/>
                  </a:lnTo>
                  <a:lnTo>
                    <a:pt x="589518" y="147"/>
                  </a:lnTo>
                  <a:lnTo>
                    <a:pt x="597482" y="7349"/>
                  </a:lnTo>
                  <a:lnTo>
                    <a:pt x="641872" y="382998"/>
                  </a:lnTo>
                  <a:lnTo>
                    <a:pt x="649975" y="359644"/>
                  </a:lnTo>
                  <a:lnTo>
                    <a:pt x="652631" y="351958"/>
                  </a:lnTo>
                  <a:lnTo>
                    <a:pt x="659875" y="346814"/>
                  </a:lnTo>
                  <a:lnTo>
                    <a:pt x="1004521" y="346814"/>
                  </a:lnTo>
                  <a:lnTo>
                    <a:pt x="1011946" y="348314"/>
                  </a:lnTo>
                  <a:lnTo>
                    <a:pt x="1018013" y="352404"/>
                  </a:lnTo>
                  <a:lnTo>
                    <a:pt x="1019174" y="354127"/>
                  </a:lnTo>
                  <a:lnTo>
                    <a:pt x="1019174" y="377660"/>
                  </a:lnTo>
                  <a:lnTo>
                    <a:pt x="1018013" y="379383"/>
                  </a:lnTo>
                  <a:lnTo>
                    <a:pt x="1011946" y="383473"/>
                  </a:lnTo>
                  <a:lnTo>
                    <a:pt x="1004521" y="384973"/>
                  </a:lnTo>
                  <a:lnTo>
                    <a:pt x="681570" y="384973"/>
                  </a:lnTo>
                  <a:lnTo>
                    <a:pt x="650694" y="473968"/>
                  </a:lnTo>
                  <a:lnTo>
                    <a:pt x="647785" y="482373"/>
                  </a:lnTo>
                  <a:lnTo>
                    <a:pt x="639506" y="487642"/>
                  </a:lnTo>
                  <a:lnTo>
                    <a:pt x="621776" y="485730"/>
                  </a:lnTo>
                  <a:lnTo>
                    <a:pt x="614768" y="478785"/>
                  </a:lnTo>
                  <a:lnTo>
                    <a:pt x="577396" y="162488"/>
                  </a:lnTo>
                  <a:lnTo>
                    <a:pt x="505764" y="639004"/>
                  </a:lnTo>
                  <a:lnTo>
                    <a:pt x="497831" y="645898"/>
                  </a:lnTo>
                  <a:lnTo>
                    <a:pt x="488293" y="64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751698" y="7391730"/>
            <a:ext cx="2482215" cy="143827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 marR="5080" algn="ctr">
              <a:lnSpc>
                <a:spcPts val="3479"/>
              </a:lnSpc>
              <a:spcBef>
                <a:spcPts val="790"/>
              </a:spcBef>
            </a:pPr>
            <a:r>
              <a:rPr sz="3450" spc="90" dirty="0">
                <a:solidFill>
                  <a:srgbClr val="9D2428"/>
                </a:solidFill>
                <a:latin typeface="Tahoma"/>
                <a:cs typeface="Tahoma"/>
              </a:rPr>
              <a:t>Quick</a:t>
            </a:r>
            <a:r>
              <a:rPr sz="3450" spc="-19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9D2428"/>
                </a:solidFill>
                <a:latin typeface="Tahoma"/>
                <a:cs typeface="Tahoma"/>
              </a:rPr>
              <a:t>delete and</a:t>
            </a:r>
            <a:r>
              <a:rPr sz="3450" spc="-24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9D2428"/>
                </a:solidFill>
                <a:latin typeface="Tahoma"/>
                <a:cs typeface="Tahoma"/>
              </a:rPr>
              <a:t>update options</a:t>
            </a:r>
            <a:endParaRPr sz="34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195239" y="4680196"/>
            <a:ext cx="1019175" cy="864869"/>
            <a:chOff x="13195239" y="4680196"/>
            <a:chExt cx="1019175" cy="864869"/>
          </a:xfrm>
        </p:grpSpPr>
        <p:sp>
          <p:nvSpPr>
            <p:cNvPr id="16" name="object 16"/>
            <p:cNvSpPr/>
            <p:nvPr/>
          </p:nvSpPr>
          <p:spPr>
            <a:xfrm>
              <a:off x="13218818" y="4680196"/>
              <a:ext cx="976630" cy="864869"/>
            </a:xfrm>
            <a:custGeom>
              <a:avLst/>
              <a:gdLst/>
              <a:ahLst/>
              <a:cxnLst/>
              <a:rect l="l" t="t" r="r" b="b"/>
              <a:pathLst>
                <a:path w="976630" h="864870">
                  <a:moveTo>
                    <a:pt x="488216" y="864818"/>
                  </a:moveTo>
                  <a:lnTo>
                    <a:pt x="452042" y="844041"/>
                  </a:lnTo>
                  <a:lnTo>
                    <a:pt x="396119" y="808668"/>
                  </a:lnTo>
                  <a:lnTo>
                    <a:pt x="361629" y="785083"/>
                  </a:lnTo>
                  <a:lnTo>
                    <a:pt x="324126" y="757815"/>
                  </a:lnTo>
                  <a:lnTo>
                    <a:pt x="284614" y="727051"/>
                  </a:lnTo>
                  <a:lnTo>
                    <a:pt x="244098" y="692977"/>
                  </a:lnTo>
                  <a:lnTo>
                    <a:pt x="203582" y="655778"/>
                  </a:lnTo>
                  <a:lnTo>
                    <a:pt x="164070" y="615642"/>
                  </a:lnTo>
                  <a:lnTo>
                    <a:pt x="126568" y="572755"/>
                  </a:lnTo>
                  <a:lnTo>
                    <a:pt x="92080" y="527304"/>
                  </a:lnTo>
                  <a:lnTo>
                    <a:pt x="61609" y="479474"/>
                  </a:lnTo>
                  <a:lnTo>
                    <a:pt x="36162" y="429453"/>
                  </a:lnTo>
                  <a:lnTo>
                    <a:pt x="16741" y="377426"/>
                  </a:lnTo>
                  <a:lnTo>
                    <a:pt x="4352" y="323581"/>
                  </a:lnTo>
                  <a:lnTo>
                    <a:pt x="0" y="268103"/>
                  </a:lnTo>
                  <a:lnTo>
                    <a:pt x="4319" y="219911"/>
                  </a:lnTo>
                  <a:lnTo>
                    <a:pt x="16773" y="174554"/>
                  </a:lnTo>
                  <a:lnTo>
                    <a:pt x="36603" y="132787"/>
                  </a:lnTo>
                  <a:lnTo>
                    <a:pt x="63053" y="95368"/>
                  </a:lnTo>
                  <a:lnTo>
                    <a:pt x="95366" y="63055"/>
                  </a:lnTo>
                  <a:lnTo>
                    <a:pt x="132783" y="36604"/>
                  </a:lnTo>
                  <a:lnTo>
                    <a:pt x="174548" y="16773"/>
                  </a:lnTo>
                  <a:lnTo>
                    <a:pt x="219904" y="4319"/>
                  </a:lnTo>
                  <a:lnTo>
                    <a:pt x="268092" y="0"/>
                  </a:lnTo>
                  <a:lnTo>
                    <a:pt x="321353" y="5293"/>
                  </a:lnTo>
                  <a:lnTo>
                    <a:pt x="371020" y="20482"/>
                  </a:lnTo>
                  <a:lnTo>
                    <a:pt x="416069" y="44535"/>
                  </a:lnTo>
                  <a:lnTo>
                    <a:pt x="455475" y="76416"/>
                  </a:lnTo>
                  <a:lnTo>
                    <a:pt x="488216" y="115091"/>
                  </a:lnTo>
                  <a:lnTo>
                    <a:pt x="520956" y="76416"/>
                  </a:lnTo>
                  <a:lnTo>
                    <a:pt x="560360" y="44535"/>
                  </a:lnTo>
                  <a:lnTo>
                    <a:pt x="605405" y="20482"/>
                  </a:lnTo>
                  <a:lnTo>
                    <a:pt x="655065" y="5293"/>
                  </a:lnTo>
                  <a:lnTo>
                    <a:pt x="708316" y="0"/>
                  </a:lnTo>
                  <a:lnTo>
                    <a:pt x="756511" y="4319"/>
                  </a:lnTo>
                  <a:lnTo>
                    <a:pt x="801872" y="16773"/>
                  </a:lnTo>
                  <a:lnTo>
                    <a:pt x="843641" y="36604"/>
                  </a:lnTo>
                  <a:lnTo>
                    <a:pt x="881061" y="63055"/>
                  </a:lnTo>
                  <a:lnTo>
                    <a:pt x="913376" y="95368"/>
                  </a:lnTo>
                  <a:lnTo>
                    <a:pt x="939828" y="132787"/>
                  </a:lnTo>
                  <a:lnTo>
                    <a:pt x="959660" y="174554"/>
                  </a:lnTo>
                  <a:lnTo>
                    <a:pt x="972114" y="219911"/>
                  </a:lnTo>
                  <a:lnTo>
                    <a:pt x="976434" y="268103"/>
                  </a:lnTo>
                  <a:lnTo>
                    <a:pt x="972080" y="323581"/>
                  </a:lnTo>
                  <a:lnTo>
                    <a:pt x="959691" y="377426"/>
                  </a:lnTo>
                  <a:lnTo>
                    <a:pt x="940269" y="429453"/>
                  </a:lnTo>
                  <a:lnTo>
                    <a:pt x="914820" y="479474"/>
                  </a:lnTo>
                  <a:lnTo>
                    <a:pt x="884349" y="527304"/>
                  </a:lnTo>
                  <a:lnTo>
                    <a:pt x="849859" y="572755"/>
                  </a:lnTo>
                  <a:lnTo>
                    <a:pt x="812355" y="615642"/>
                  </a:lnTo>
                  <a:lnTo>
                    <a:pt x="772842" y="655778"/>
                  </a:lnTo>
                  <a:lnTo>
                    <a:pt x="732325" y="692977"/>
                  </a:lnTo>
                  <a:lnTo>
                    <a:pt x="691807" y="727051"/>
                  </a:lnTo>
                  <a:lnTo>
                    <a:pt x="652294" y="757815"/>
                  </a:lnTo>
                  <a:lnTo>
                    <a:pt x="614791" y="785083"/>
                  </a:lnTo>
                  <a:lnTo>
                    <a:pt x="580301" y="808668"/>
                  </a:lnTo>
                  <a:lnTo>
                    <a:pt x="524380" y="844041"/>
                  </a:lnTo>
                  <a:lnTo>
                    <a:pt x="492569" y="862446"/>
                  </a:lnTo>
                  <a:lnTo>
                    <a:pt x="488216" y="864818"/>
                  </a:lnTo>
                  <a:close/>
                </a:path>
              </a:pathLst>
            </a:custGeom>
            <a:solidFill>
              <a:srgbClr val="9D24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195239" y="4785007"/>
              <a:ext cx="1019175" cy="646430"/>
            </a:xfrm>
            <a:custGeom>
              <a:avLst/>
              <a:gdLst/>
              <a:ahLst/>
              <a:cxnLst/>
              <a:rect l="l" t="t" r="r" b="b"/>
              <a:pathLst>
                <a:path w="1019175" h="646429">
                  <a:moveTo>
                    <a:pt x="488294" y="645969"/>
                  </a:moveTo>
                  <a:lnTo>
                    <a:pt x="478973" y="645969"/>
                  </a:lnTo>
                  <a:lnTo>
                    <a:pt x="471014" y="639239"/>
                  </a:lnTo>
                  <a:lnTo>
                    <a:pt x="413681" y="296499"/>
                  </a:lnTo>
                  <a:lnTo>
                    <a:pt x="385708" y="372476"/>
                  </a:lnTo>
                  <a:lnTo>
                    <a:pt x="382951" y="379989"/>
                  </a:lnTo>
                  <a:lnTo>
                    <a:pt x="375808" y="384973"/>
                  </a:lnTo>
                  <a:lnTo>
                    <a:pt x="19056" y="384973"/>
                  </a:lnTo>
                  <a:lnTo>
                    <a:pt x="11632" y="383473"/>
                  </a:lnTo>
                  <a:lnTo>
                    <a:pt x="5568" y="379383"/>
                  </a:lnTo>
                  <a:lnTo>
                    <a:pt x="1479" y="373318"/>
                  </a:lnTo>
                  <a:lnTo>
                    <a:pt x="0" y="365894"/>
                  </a:lnTo>
                  <a:lnTo>
                    <a:pt x="1479" y="358469"/>
                  </a:lnTo>
                  <a:lnTo>
                    <a:pt x="5568" y="352404"/>
                  </a:lnTo>
                  <a:lnTo>
                    <a:pt x="11632" y="348314"/>
                  </a:lnTo>
                  <a:lnTo>
                    <a:pt x="19056" y="346814"/>
                  </a:lnTo>
                  <a:lnTo>
                    <a:pt x="354506" y="346814"/>
                  </a:lnTo>
                  <a:lnTo>
                    <a:pt x="402723" y="215800"/>
                  </a:lnTo>
                  <a:lnTo>
                    <a:pt x="405705" y="207666"/>
                  </a:lnTo>
                  <a:lnTo>
                    <a:pt x="413914" y="202470"/>
                  </a:lnTo>
                  <a:lnTo>
                    <a:pt x="422398" y="203391"/>
                  </a:lnTo>
                  <a:lnTo>
                    <a:pt x="431018" y="204202"/>
                  </a:lnTo>
                  <a:lnTo>
                    <a:pt x="438015" y="210694"/>
                  </a:lnTo>
                  <a:lnTo>
                    <a:pt x="439439" y="219241"/>
                  </a:lnTo>
                  <a:lnTo>
                    <a:pt x="487287" y="505245"/>
                  </a:lnTo>
                  <a:lnTo>
                    <a:pt x="562197" y="6891"/>
                  </a:lnTo>
                  <a:lnTo>
                    <a:pt x="570229" y="0"/>
                  </a:lnTo>
                  <a:lnTo>
                    <a:pt x="579860" y="0"/>
                  </a:lnTo>
                  <a:lnTo>
                    <a:pt x="589519" y="147"/>
                  </a:lnTo>
                  <a:lnTo>
                    <a:pt x="597483" y="7349"/>
                  </a:lnTo>
                  <a:lnTo>
                    <a:pt x="641873" y="382998"/>
                  </a:lnTo>
                  <a:lnTo>
                    <a:pt x="649976" y="359644"/>
                  </a:lnTo>
                  <a:lnTo>
                    <a:pt x="652632" y="351958"/>
                  </a:lnTo>
                  <a:lnTo>
                    <a:pt x="659876" y="346814"/>
                  </a:lnTo>
                  <a:lnTo>
                    <a:pt x="1004521" y="346814"/>
                  </a:lnTo>
                  <a:lnTo>
                    <a:pt x="1011947" y="348314"/>
                  </a:lnTo>
                  <a:lnTo>
                    <a:pt x="1018013" y="352404"/>
                  </a:lnTo>
                  <a:lnTo>
                    <a:pt x="1019174" y="354125"/>
                  </a:lnTo>
                  <a:lnTo>
                    <a:pt x="1019174" y="377662"/>
                  </a:lnTo>
                  <a:lnTo>
                    <a:pt x="1018013" y="379383"/>
                  </a:lnTo>
                  <a:lnTo>
                    <a:pt x="1011947" y="383473"/>
                  </a:lnTo>
                  <a:lnTo>
                    <a:pt x="1004521" y="384973"/>
                  </a:lnTo>
                  <a:lnTo>
                    <a:pt x="681571" y="384973"/>
                  </a:lnTo>
                  <a:lnTo>
                    <a:pt x="650695" y="473968"/>
                  </a:lnTo>
                  <a:lnTo>
                    <a:pt x="647786" y="482373"/>
                  </a:lnTo>
                  <a:lnTo>
                    <a:pt x="639507" y="487642"/>
                  </a:lnTo>
                  <a:lnTo>
                    <a:pt x="621776" y="485730"/>
                  </a:lnTo>
                  <a:lnTo>
                    <a:pt x="614769" y="478785"/>
                  </a:lnTo>
                  <a:lnTo>
                    <a:pt x="577396" y="162488"/>
                  </a:lnTo>
                  <a:lnTo>
                    <a:pt x="505765" y="639004"/>
                  </a:lnTo>
                  <a:lnTo>
                    <a:pt x="497832" y="645898"/>
                  </a:lnTo>
                  <a:lnTo>
                    <a:pt x="488294" y="64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028737" y="2668384"/>
            <a:ext cx="4380865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25"/>
              </a:spcBef>
              <a:buSzPct val="97101"/>
              <a:buChar char="•"/>
              <a:tabLst>
                <a:tab pos="267970" algn="l"/>
              </a:tabLst>
            </a:pPr>
            <a:r>
              <a:rPr sz="3450" dirty="0">
                <a:solidFill>
                  <a:srgbClr val="9D2428"/>
                </a:solidFill>
                <a:latin typeface="Tahoma"/>
                <a:cs typeface="Tahoma"/>
              </a:rPr>
              <a:t>Capture</a:t>
            </a:r>
            <a:r>
              <a:rPr sz="3450" spc="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9D2428"/>
                </a:solidFill>
                <a:latin typeface="Tahoma"/>
                <a:cs typeface="Tahoma"/>
              </a:rPr>
              <a:t>blood</a:t>
            </a:r>
            <a:r>
              <a:rPr sz="3450" spc="1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9D2428"/>
                </a:solidFill>
                <a:latin typeface="Tahoma"/>
                <a:cs typeface="Tahoma"/>
              </a:rPr>
              <a:t>group,</a:t>
            </a:r>
            <a:endParaRPr sz="34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623527" y="3109878"/>
            <a:ext cx="3190875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-130" dirty="0">
                <a:solidFill>
                  <a:srgbClr val="9D2428"/>
                </a:solidFill>
                <a:latin typeface="Tahoma"/>
                <a:cs typeface="Tahoma"/>
              </a:rPr>
              <a:t>age,</a:t>
            </a:r>
            <a:r>
              <a:rPr sz="3450" spc="-19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9D2428"/>
                </a:solidFill>
                <a:latin typeface="Tahoma"/>
                <a:cs typeface="Tahoma"/>
              </a:rPr>
              <a:t>and</a:t>
            </a:r>
            <a:r>
              <a:rPr sz="3450" spc="-21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9D2428"/>
                </a:solidFill>
                <a:latin typeface="Tahoma"/>
                <a:cs typeface="Tahoma"/>
              </a:rPr>
              <a:t>contact</a:t>
            </a:r>
            <a:endParaRPr sz="345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3924662" y="598193"/>
            <a:ext cx="9470390" cy="1280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200" spc="-340" dirty="0">
                <a:solidFill>
                  <a:srgbClr val="9D2428"/>
                </a:solidFill>
              </a:rPr>
              <a:t>Donor</a:t>
            </a:r>
            <a:r>
              <a:rPr sz="8200" spc="-650" dirty="0">
                <a:solidFill>
                  <a:srgbClr val="9D2428"/>
                </a:solidFill>
              </a:rPr>
              <a:t> </a:t>
            </a:r>
            <a:r>
              <a:rPr sz="8200" spc="-520" dirty="0">
                <a:solidFill>
                  <a:srgbClr val="9D2428"/>
                </a:solidFill>
              </a:rPr>
              <a:t>Management</a:t>
            </a:r>
            <a:endParaRPr sz="8200"/>
          </a:p>
        </p:txBody>
      </p:sp>
      <p:sp>
        <p:nvSpPr>
          <p:cNvPr id="21" name="object 21"/>
          <p:cNvSpPr/>
          <p:nvPr/>
        </p:nvSpPr>
        <p:spPr>
          <a:xfrm>
            <a:off x="0" y="0"/>
            <a:ext cx="1073785" cy="10287000"/>
          </a:xfrm>
          <a:custGeom>
            <a:avLst/>
            <a:gdLst/>
            <a:ahLst/>
            <a:cxnLst/>
            <a:rect l="l" t="t" r="r" b="b"/>
            <a:pathLst>
              <a:path w="1073785" h="10287000">
                <a:moveTo>
                  <a:pt x="1073186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073186" y="0"/>
                </a:lnTo>
                <a:lnTo>
                  <a:pt x="1073186" y="10286999"/>
                </a:lnTo>
                <a:close/>
              </a:path>
            </a:pathLst>
          </a:custGeom>
          <a:solidFill>
            <a:srgbClr val="9D24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259298" y="0"/>
            <a:ext cx="1028700" cy="10287000"/>
          </a:xfrm>
          <a:custGeom>
            <a:avLst/>
            <a:gdLst/>
            <a:ahLst/>
            <a:cxnLst/>
            <a:rect l="l" t="t" r="r" b="b"/>
            <a:pathLst>
              <a:path w="1028700" h="10287000">
                <a:moveTo>
                  <a:pt x="10286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028699" y="0"/>
                </a:lnTo>
                <a:lnTo>
                  <a:pt x="1028699" y="10286999"/>
                </a:lnTo>
                <a:close/>
              </a:path>
            </a:pathLst>
          </a:custGeom>
          <a:solidFill>
            <a:srgbClr val="9D242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3892988"/>
            <a:ext cx="14380210" cy="4217670"/>
            <a:chOff x="0" y="3892988"/>
            <a:chExt cx="14380210" cy="4217670"/>
          </a:xfrm>
        </p:grpSpPr>
        <p:sp>
          <p:nvSpPr>
            <p:cNvPr id="4" name="object 4"/>
            <p:cNvSpPr/>
            <p:nvPr/>
          </p:nvSpPr>
          <p:spPr>
            <a:xfrm>
              <a:off x="0" y="4028976"/>
              <a:ext cx="14380210" cy="4081779"/>
            </a:xfrm>
            <a:custGeom>
              <a:avLst/>
              <a:gdLst/>
              <a:ahLst/>
              <a:cxnLst/>
              <a:rect l="l" t="t" r="r" b="b"/>
              <a:pathLst>
                <a:path w="14380210" h="4081779">
                  <a:moveTo>
                    <a:pt x="14013470" y="4081484"/>
                  </a:moveTo>
                  <a:lnTo>
                    <a:pt x="0" y="4081484"/>
                  </a:lnTo>
                  <a:lnTo>
                    <a:pt x="0" y="0"/>
                  </a:lnTo>
                  <a:lnTo>
                    <a:pt x="14013470" y="0"/>
                  </a:lnTo>
                  <a:lnTo>
                    <a:pt x="14062298" y="3221"/>
                  </a:lnTo>
                  <a:lnTo>
                    <a:pt x="14109876" y="12726"/>
                  </a:lnTo>
                  <a:lnTo>
                    <a:pt x="14155627" y="28276"/>
                  </a:lnTo>
                  <a:lnTo>
                    <a:pt x="14198973" y="49632"/>
                  </a:lnTo>
                  <a:lnTo>
                    <a:pt x="14239337" y="76553"/>
                  </a:lnTo>
                  <a:lnTo>
                    <a:pt x="14276141" y="108802"/>
                  </a:lnTo>
                  <a:lnTo>
                    <a:pt x="14308391" y="145607"/>
                  </a:lnTo>
                  <a:lnTo>
                    <a:pt x="14335313" y="185971"/>
                  </a:lnTo>
                  <a:lnTo>
                    <a:pt x="14356668" y="229317"/>
                  </a:lnTo>
                  <a:lnTo>
                    <a:pt x="14372218" y="275068"/>
                  </a:lnTo>
                  <a:lnTo>
                    <a:pt x="14379817" y="313103"/>
                  </a:lnTo>
                  <a:lnTo>
                    <a:pt x="14379817" y="3768381"/>
                  </a:lnTo>
                  <a:lnTo>
                    <a:pt x="14372218" y="3806416"/>
                  </a:lnTo>
                  <a:lnTo>
                    <a:pt x="14356668" y="3852167"/>
                  </a:lnTo>
                  <a:lnTo>
                    <a:pt x="14335313" y="3895513"/>
                  </a:lnTo>
                  <a:lnTo>
                    <a:pt x="14308391" y="3935877"/>
                  </a:lnTo>
                  <a:lnTo>
                    <a:pt x="14276141" y="3972682"/>
                  </a:lnTo>
                  <a:lnTo>
                    <a:pt x="14239337" y="4004931"/>
                  </a:lnTo>
                  <a:lnTo>
                    <a:pt x="14198973" y="4031852"/>
                  </a:lnTo>
                  <a:lnTo>
                    <a:pt x="14155627" y="4053208"/>
                  </a:lnTo>
                  <a:lnTo>
                    <a:pt x="14109876" y="4068758"/>
                  </a:lnTo>
                  <a:lnTo>
                    <a:pt x="14062298" y="4078263"/>
                  </a:lnTo>
                  <a:lnTo>
                    <a:pt x="14013470" y="4081484"/>
                  </a:lnTo>
                  <a:close/>
                </a:path>
              </a:pathLst>
            </a:custGeom>
            <a:solidFill>
              <a:srgbClr val="9D2428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917" y="3892988"/>
              <a:ext cx="159992" cy="1599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917" y="4861830"/>
              <a:ext cx="159992" cy="1599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917" y="5346252"/>
              <a:ext cx="159992" cy="15999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917" y="5830673"/>
              <a:ext cx="159992" cy="15999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917" y="6315094"/>
              <a:ext cx="159992" cy="1599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917" y="6799515"/>
              <a:ext cx="159992" cy="1599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917" y="7283937"/>
              <a:ext cx="159992" cy="15999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30062" y="3628033"/>
            <a:ext cx="10549255" cy="400177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 marR="5080">
              <a:lnSpc>
                <a:spcPts val="3810"/>
              </a:lnSpc>
              <a:spcBef>
                <a:spcPts val="890"/>
              </a:spcBef>
            </a:pPr>
            <a:r>
              <a:rPr sz="3850" dirty="0">
                <a:solidFill>
                  <a:srgbClr val="FFFFFF"/>
                </a:solidFill>
                <a:latin typeface="Tahoma"/>
                <a:cs typeface="Tahoma"/>
              </a:rPr>
              <a:t>Centralized</a:t>
            </a:r>
            <a:r>
              <a:rPr sz="385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65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385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850" spc="-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45" dirty="0">
                <a:solidFill>
                  <a:srgbClr val="FFFFFF"/>
                </a:solidFill>
                <a:latin typeface="Tahoma"/>
                <a:cs typeface="Tahoma"/>
              </a:rPr>
              <a:t>donor,</a:t>
            </a:r>
            <a:r>
              <a:rPr sz="385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30" dirty="0">
                <a:solidFill>
                  <a:srgbClr val="FFFFFF"/>
                </a:solidFill>
                <a:latin typeface="Tahoma"/>
                <a:cs typeface="Tahoma"/>
              </a:rPr>
              <a:t>inventory,</a:t>
            </a:r>
            <a:r>
              <a:rPr sz="385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3850" spc="-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385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2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endParaRPr sz="3850">
              <a:latin typeface="Tahoma"/>
              <a:cs typeface="Tahoma"/>
            </a:endParaRPr>
          </a:p>
          <a:p>
            <a:pPr marL="12700" marR="1983739">
              <a:lnSpc>
                <a:spcPts val="3810"/>
              </a:lnSpc>
              <a:spcBef>
                <a:spcPts val="10"/>
              </a:spcBef>
            </a:pPr>
            <a:r>
              <a:rPr sz="3850" spc="-55" dirty="0">
                <a:solidFill>
                  <a:srgbClr val="FFFFFF"/>
                </a:solidFill>
                <a:latin typeface="Tahoma"/>
                <a:cs typeface="Tahoma"/>
              </a:rPr>
              <a:t>Real-</a:t>
            </a:r>
            <a:r>
              <a:rPr sz="3850" dirty="0">
                <a:solidFill>
                  <a:srgbClr val="FFFFFF"/>
                </a:solidFill>
                <a:latin typeface="Tahoma"/>
                <a:cs typeface="Tahoma"/>
              </a:rPr>
              <a:t>time</a:t>
            </a:r>
            <a:r>
              <a:rPr sz="385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10" dirty="0">
                <a:solidFill>
                  <a:srgbClr val="FFFFFF"/>
                </a:solidFill>
                <a:latin typeface="Tahoma"/>
                <a:cs typeface="Tahoma"/>
              </a:rPr>
              <a:t>tracking</a:t>
            </a:r>
            <a:r>
              <a:rPr sz="385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85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dirty="0">
                <a:solidFill>
                  <a:srgbClr val="FFFFFF"/>
                </a:solidFill>
                <a:latin typeface="Tahoma"/>
                <a:cs typeface="Tahoma"/>
              </a:rPr>
              <a:t>blood</a:t>
            </a:r>
            <a:r>
              <a:rPr sz="385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10" dirty="0">
                <a:solidFill>
                  <a:srgbClr val="FFFFFF"/>
                </a:solidFill>
                <a:latin typeface="Tahoma"/>
                <a:cs typeface="Tahoma"/>
              </a:rPr>
              <a:t>availability </a:t>
            </a:r>
            <a:r>
              <a:rPr sz="3850" spc="-25" dirty="0">
                <a:solidFill>
                  <a:srgbClr val="FFFFFF"/>
                </a:solidFill>
                <a:latin typeface="Tahoma"/>
                <a:cs typeface="Tahoma"/>
              </a:rPr>
              <a:t>Reduces</a:t>
            </a:r>
            <a:r>
              <a:rPr sz="385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70" dirty="0">
                <a:solidFill>
                  <a:srgbClr val="FFFFFF"/>
                </a:solidFill>
                <a:latin typeface="Tahoma"/>
                <a:cs typeface="Tahoma"/>
              </a:rPr>
              <a:t>manual</a:t>
            </a:r>
            <a:r>
              <a:rPr sz="3850" spc="-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55" dirty="0">
                <a:solidFill>
                  <a:srgbClr val="FFFFFF"/>
                </a:solidFill>
                <a:latin typeface="Tahoma"/>
                <a:cs typeface="Tahoma"/>
              </a:rPr>
              <a:t>work</a:t>
            </a:r>
            <a:r>
              <a:rPr sz="385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3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385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65" dirty="0">
                <a:solidFill>
                  <a:srgbClr val="FFFFFF"/>
                </a:solidFill>
                <a:latin typeface="Tahoma"/>
                <a:cs typeface="Tahoma"/>
              </a:rPr>
              <a:t>human</a:t>
            </a:r>
            <a:r>
              <a:rPr sz="385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10" dirty="0">
                <a:solidFill>
                  <a:srgbClr val="FFFFFF"/>
                </a:solidFill>
                <a:latin typeface="Tahoma"/>
                <a:cs typeface="Tahoma"/>
              </a:rPr>
              <a:t>errors </a:t>
            </a:r>
            <a:r>
              <a:rPr sz="3850" spc="-50" dirty="0">
                <a:solidFill>
                  <a:srgbClr val="FFFFFF"/>
                </a:solidFill>
                <a:latin typeface="Tahoma"/>
                <a:cs typeface="Tahoma"/>
              </a:rPr>
              <a:t>Faster</a:t>
            </a:r>
            <a:r>
              <a:rPr sz="3850" spc="-2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20" dirty="0">
                <a:solidFill>
                  <a:srgbClr val="FFFFFF"/>
                </a:solidFill>
                <a:latin typeface="Tahoma"/>
                <a:cs typeface="Tahoma"/>
              </a:rPr>
              <a:t>processing</a:t>
            </a:r>
            <a:r>
              <a:rPr sz="385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85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dirty="0">
                <a:solidFill>
                  <a:srgbClr val="FFFFFF"/>
                </a:solidFill>
                <a:latin typeface="Tahoma"/>
                <a:cs typeface="Tahoma"/>
              </a:rPr>
              <a:t>blood</a:t>
            </a:r>
            <a:r>
              <a:rPr sz="385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10" dirty="0">
                <a:solidFill>
                  <a:srgbClr val="FFFFFF"/>
                </a:solidFill>
                <a:latin typeface="Tahoma"/>
                <a:cs typeface="Tahoma"/>
              </a:rPr>
              <a:t>requests</a:t>
            </a:r>
            <a:endParaRPr sz="3850">
              <a:latin typeface="Tahoma"/>
              <a:cs typeface="Tahoma"/>
            </a:endParaRPr>
          </a:p>
          <a:p>
            <a:pPr marL="12700" marR="250190">
              <a:lnSpc>
                <a:spcPts val="3810"/>
              </a:lnSpc>
              <a:spcBef>
                <a:spcPts val="15"/>
              </a:spcBef>
            </a:pPr>
            <a:r>
              <a:rPr sz="3850" spc="-40" dirty="0">
                <a:solidFill>
                  <a:srgbClr val="FFFFFF"/>
                </a:solidFill>
                <a:latin typeface="Tahoma"/>
                <a:cs typeface="Tahoma"/>
              </a:rPr>
              <a:t>Easy</a:t>
            </a:r>
            <a:r>
              <a:rPr sz="3850" spc="-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dirty="0">
                <a:solidFill>
                  <a:srgbClr val="FFFFFF"/>
                </a:solidFill>
                <a:latin typeface="Tahoma"/>
                <a:cs typeface="Tahoma"/>
              </a:rPr>
              <a:t>report</a:t>
            </a:r>
            <a:r>
              <a:rPr sz="385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10" dirty="0">
                <a:solidFill>
                  <a:srgbClr val="FFFFFF"/>
                </a:solidFill>
                <a:latin typeface="Tahoma"/>
                <a:cs typeface="Tahoma"/>
              </a:rPr>
              <a:t>generation</a:t>
            </a:r>
            <a:r>
              <a:rPr sz="385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3850" spc="-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3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r>
              <a:rPr sz="385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3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385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10" dirty="0">
                <a:solidFill>
                  <a:srgbClr val="FFFFFF"/>
                </a:solidFill>
                <a:latin typeface="Tahoma"/>
                <a:cs typeface="Tahoma"/>
              </a:rPr>
              <a:t>planning </a:t>
            </a:r>
            <a:r>
              <a:rPr sz="3850" dirty="0">
                <a:solidFill>
                  <a:srgbClr val="FFFFFF"/>
                </a:solidFill>
                <a:latin typeface="Tahoma"/>
                <a:cs typeface="Tahoma"/>
              </a:rPr>
              <a:t>User-friendly</a:t>
            </a:r>
            <a:r>
              <a:rPr sz="385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3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385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20" dirty="0">
                <a:solidFill>
                  <a:srgbClr val="FFFFFF"/>
                </a:solidFill>
                <a:latin typeface="Tahoma"/>
                <a:cs typeface="Tahoma"/>
              </a:rPr>
              <a:t>accessible</a:t>
            </a:r>
            <a:r>
              <a:rPr sz="385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dirty="0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sz="385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10" dirty="0">
                <a:solidFill>
                  <a:srgbClr val="FFFFFF"/>
                </a:solidFill>
                <a:latin typeface="Tahoma"/>
                <a:cs typeface="Tahoma"/>
              </a:rPr>
              <a:t>interface </a:t>
            </a:r>
            <a:r>
              <a:rPr sz="3850" spc="-75" dirty="0">
                <a:solidFill>
                  <a:srgbClr val="FFFFFF"/>
                </a:solidFill>
                <a:latin typeface="Tahoma"/>
                <a:cs typeface="Tahoma"/>
              </a:rPr>
              <a:t>Improves</a:t>
            </a:r>
            <a:r>
              <a:rPr sz="385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dirty="0">
                <a:solidFill>
                  <a:srgbClr val="FFFFFF"/>
                </a:solidFill>
                <a:latin typeface="Tahoma"/>
                <a:cs typeface="Tahoma"/>
              </a:rPr>
              <a:t>eﬃciency</a:t>
            </a:r>
            <a:r>
              <a:rPr sz="385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20" dirty="0">
                <a:solidFill>
                  <a:srgbClr val="FFFFFF"/>
                </a:solidFill>
                <a:latin typeface="Tahoma"/>
                <a:cs typeface="Tahoma"/>
              </a:rPr>
              <a:t>during</a:t>
            </a:r>
            <a:r>
              <a:rPr sz="385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35" dirty="0">
                <a:solidFill>
                  <a:srgbClr val="FFFFFF"/>
                </a:solidFill>
                <a:latin typeface="Tahoma"/>
                <a:cs typeface="Tahoma"/>
              </a:rPr>
              <a:t>emergency</a:t>
            </a:r>
            <a:r>
              <a:rPr sz="385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50" spc="-10" dirty="0">
                <a:solidFill>
                  <a:srgbClr val="FFFFFF"/>
                </a:solidFill>
                <a:latin typeface="Tahoma"/>
                <a:cs typeface="Tahoma"/>
              </a:rPr>
              <a:t>situations</a:t>
            </a:r>
            <a:endParaRPr sz="385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3860">
              <a:lnSpc>
                <a:spcPct val="100000"/>
              </a:lnSpc>
              <a:spcBef>
                <a:spcPts val="130"/>
              </a:spcBef>
            </a:pPr>
            <a:r>
              <a:rPr sz="8200" spc="-535" dirty="0"/>
              <a:t>Advantages:-</a:t>
            </a:r>
            <a:endParaRPr sz="8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9143999" y="4638035"/>
              <a:ext cx="6492240" cy="0"/>
            </a:xfrm>
            <a:custGeom>
              <a:avLst/>
              <a:gdLst/>
              <a:ahLst/>
              <a:cxnLst/>
              <a:rect l="l" t="t" r="r" b="b"/>
              <a:pathLst>
                <a:path w="6492240">
                  <a:moveTo>
                    <a:pt x="0" y="0"/>
                  </a:moveTo>
                  <a:lnTo>
                    <a:pt x="6492239" y="0"/>
                  </a:lnTo>
                </a:path>
              </a:pathLst>
            </a:custGeom>
            <a:ln w="38099">
              <a:solidFill>
                <a:srgbClr val="9D24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0"/>
              <a:ext cx="9143999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1027410" cy="10287000"/>
            </a:xfrm>
            <a:custGeom>
              <a:avLst/>
              <a:gdLst/>
              <a:ahLst/>
              <a:cxnLst/>
              <a:rect l="l" t="t" r="r" b="b"/>
              <a:pathLst>
                <a:path w="11027410" h="10287000">
                  <a:moveTo>
                    <a:pt x="0" y="10286999"/>
                  </a:moveTo>
                  <a:lnTo>
                    <a:pt x="0" y="1952475"/>
                  </a:lnTo>
                  <a:lnTo>
                    <a:pt x="306981" y="0"/>
                  </a:lnTo>
                  <a:lnTo>
                    <a:pt x="11027013" y="0"/>
                  </a:lnTo>
                  <a:lnTo>
                    <a:pt x="9409619" y="10286999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9D24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5072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0"/>
              </a:spcBef>
            </a:pPr>
            <a:r>
              <a:rPr sz="8200" spc="-535" dirty="0"/>
              <a:t>Disadvantages</a:t>
            </a:r>
            <a:endParaRPr sz="8200"/>
          </a:p>
        </p:txBody>
      </p:sp>
      <p:grpSp>
        <p:nvGrpSpPr>
          <p:cNvPr id="7" name="object 7"/>
          <p:cNvGrpSpPr/>
          <p:nvPr/>
        </p:nvGrpSpPr>
        <p:grpSpPr>
          <a:xfrm>
            <a:off x="771372" y="4443114"/>
            <a:ext cx="219075" cy="1943100"/>
            <a:chOff x="771372" y="4443114"/>
            <a:chExt cx="219075" cy="19431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522" y="4443114"/>
              <a:ext cx="161925" cy="1619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522" y="4928889"/>
              <a:ext cx="161925" cy="161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372" y="5386088"/>
              <a:ext cx="142875" cy="142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372" y="6243338"/>
              <a:ext cx="142875" cy="14287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107674" y="4182668"/>
            <a:ext cx="7361555" cy="280860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 marR="5080" indent="86360" algn="just">
              <a:lnSpc>
                <a:spcPct val="83200"/>
              </a:lnSpc>
              <a:spcBef>
                <a:spcPts val="890"/>
              </a:spcBef>
            </a:pPr>
            <a:r>
              <a:rPr sz="3800" spc="45" dirty="0">
                <a:solidFill>
                  <a:srgbClr val="FFFFFF"/>
                </a:solidFill>
                <a:latin typeface="Tahoma"/>
                <a:cs typeface="Tahoma"/>
              </a:rPr>
              <a:t>Depends</a:t>
            </a:r>
            <a:r>
              <a:rPr sz="38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38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dirty="0">
                <a:solidFill>
                  <a:srgbClr val="FFFFFF"/>
                </a:solidFill>
                <a:latin typeface="Tahoma"/>
                <a:cs typeface="Tahoma"/>
              </a:rPr>
              <a:t>internet</a:t>
            </a:r>
            <a:r>
              <a:rPr sz="38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spc="45" dirty="0">
                <a:solidFill>
                  <a:srgbClr val="FFFFFF"/>
                </a:solidFill>
                <a:latin typeface="Tahoma"/>
                <a:cs typeface="Tahoma"/>
              </a:rPr>
              <a:t>connectivity </a:t>
            </a:r>
            <a:r>
              <a:rPr sz="3800" spc="-25" dirty="0">
                <a:solidFill>
                  <a:srgbClr val="FFFFFF"/>
                </a:solidFill>
                <a:latin typeface="Tahoma"/>
                <a:cs typeface="Tahoma"/>
              </a:rPr>
              <a:t>Initial</a:t>
            </a:r>
            <a:r>
              <a:rPr sz="38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dirty="0">
                <a:solidFill>
                  <a:srgbClr val="FFFFFF"/>
                </a:solidFill>
                <a:latin typeface="Tahoma"/>
                <a:cs typeface="Tahoma"/>
              </a:rPr>
              <a:t>setup</a:t>
            </a:r>
            <a:r>
              <a:rPr sz="38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38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spc="-10" dirty="0">
                <a:solidFill>
                  <a:srgbClr val="FFFFFF"/>
                </a:solidFill>
                <a:latin typeface="Tahoma"/>
                <a:cs typeface="Tahoma"/>
              </a:rPr>
              <a:t>maintenance</a:t>
            </a:r>
            <a:r>
              <a:rPr sz="38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spc="-20" dirty="0">
                <a:solidFill>
                  <a:srgbClr val="FFFFFF"/>
                </a:solidFill>
                <a:latin typeface="Tahoma"/>
                <a:cs typeface="Tahoma"/>
              </a:rPr>
              <a:t>cost </a:t>
            </a:r>
            <a:r>
              <a:rPr sz="3400" spc="-10" dirty="0">
                <a:solidFill>
                  <a:srgbClr val="FFFFFF"/>
                </a:solidFill>
                <a:latin typeface="Tahoma"/>
                <a:cs typeface="Tahoma"/>
              </a:rPr>
              <a:t>Requires</a:t>
            </a:r>
            <a:r>
              <a:rPr sz="3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FFFFFF"/>
                </a:solidFill>
                <a:latin typeface="Tahoma"/>
                <a:cs typeface="Tahoma"/>
              </a:rPr>
              <a:t>basic</a:t>
            </a:r>
            <a:r>
              <a:rPr sz="3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FFFFFF"/>
                </a:solidFill>
                <a:latin typeface="Tahoma"/>
                <a:cs typeface="Tahoma"/>
              </a:rPr>
              <a:t>technical</a:t>
            </a:r>
            <a:r>
              <a:rPr sz="34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FFFFFF"/>
                </a:solidFill>
                <a:latin typeface="Tahoma"/>
                <a:cs typeface="Tahoma"/>
              </a:rPr>
              <a:t>knowledge</a:t>
            </a:r>
            <a:r>
              <a:rPr sz="34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3400" spc="-10" dirty="0">
                <a:solidFill>
                  <a:srgbClr val="FFFFFF"/>
                </a:solidFill>
                <a:latin typeface="Tahoma"/>
                <a:cs typeface="Tahoma"/>
              </a:rPr>
              <a:t>operate</a:t>
            </a:r>
            <a:endParaRPr sz="3400">
              <a:latin typeface="Tahoma"/>
              <a:cs typeface="Tahoma"/>
            </a:endParaRPr>
          </a:p>
          <a:p>
            <a:pPr marL="12700" marR="1025525" algn="just">
              <a:lnSpc>
                <a:spcPct val="82700"/>
              </a:lnSpc>
            </a:pPr>
            <a:r>
              <a:rPr sz="340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34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r>
              <a:rPr sz="34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FFFFFF"/>
                </a:solidFill>
                <a:latin typeface="Tahoma"/>
                <a:cs typeface="Tahoma"/>
              </a:rPr>
              <a:t>risks</a:t>
            </a:r>
            <a:r>
              <a:rPr sz="34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FFFFFF"/>
                </a:solidFill>
                <a:latin typeface="Tahoma"/>
                <a:cs typeface="Tahoma"/>
              </a:rPr>
              <a:t>if</a:t>
            </a:r>
            <a:r>
              <a:rPr sz="34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sz="34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Tahoma"/>
                <a:cs typeface="Tahoma"/>
              </a:rPr>
              <a:t>properly managed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9D242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684709" cy="10286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77120" y="2484027"/>
            <a:ext cx="6967855" cy="1104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50" spc="-434" dirty="0"/>
              <a:t>Challenges</a:t>
            </a:r>
            <a:r>
              <a:rPr sz="7050" spc="-409" dirty="0"/>
              <a:t> </a:t>
            </a:r>
            <a:r>
              <a:rPr sz="7050" spc="-475" dirty="0"/>
              <a:t>Faced</a:t>
            </a:r>
            <a:endParaRPr sz="705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6234" y="4926877"/>
            <a:ext cx="171125" cy="171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6234" y="5966303"/>
            <a:ext cx="171125" cy="1711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6234" y="7005729"/>
            <a:ext cx="171125" cy="1711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6234" y="7525442"/>
            <a:ext cx="171125" cy="1711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6234" y="8045155"/>
            <a:ext cx="171125" cy="17112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 marR="957580">
              <a:lnSpc>
                <a:spcPts val="4090"/>
              </a:lnSpc>
              <a:spcBef>
                <a:spcPts val="925"/>
              </a:spcBef>
            </a:pPr>
            <a:r>
              <a:rPr dirty="0"/>
              <a:t>Maintaining</a:t>
            </a:r>
            <a:r>
              <a:rPr spc="-185" dirty="0"/>
              <a:t> </a:t>
            </a:r>
            <a:r>
              <a:rPr spc="-20" dirty="0"/>
              <a:t>accurate</a:t>
            </a:r>
            <a:r>
              <a:rPr spc="-185" dirty="0"/>
              <a:t> </a:t>
            </a:r>
            <a:r>
              <a:rPr spc="-35" dirty="0"/>
              <a:t>and</a:t>
            </a:r>
            <a:r>
              <a:rPr spc="-185" dirty="0"/>
              <a:t> </a:t>
            </a:r>
            <a:r>
              <a:rPr spc="-10" dirty="0"/>
              <a:t>updated </a:t>
            </a:r>
            <a:r>
              <a:rPr dirty="0"/>
              <a:t>blood</a:t>
            </a:r>
            <a:r>
              <a:rPr spc="-5" dirty="0"/>
              <a:t> </a:t>
            </a:r>
            <a:r>
              <a:rPr spc="-10" dirty="0"/>
              <a:t>inventory</a:t>
            </a:r>
          </a:p>
          <a:p>
            <a:pPr marL="12700" marR="166370">
              <a:lnSpc>
                <a:spcPts val="4090"/>
              </a:lnSpc>
              <a:spcBef>
                <a:spcPts val="5"/>
              </a:spcBef>
            </a:pPr>
            <a:r>
              <a:rPr dirty="0"/>
              <a:t>Handling</a:t>
            </a:r>
            <a:r>
              <a:rPr spc="-229" dirty="0"/>
              <a:t> </a:t>
            </a:r>
            <a:r>
              <a:rPr dirty="0"/>
              <a:t>sudden</a:t>
            </a:r>
            <a:r>
              <a:rPr spc="-225" dirty="0"/>
              <a:t> </a:t>
            </a:r>
            <a:r>
              <a:rPr spc="-30" dirty="0"/>
              <a:t>emergency</a:t>
            </a:r>
            <a:r>
              <a:rPr spc="-330" dirty="0"/>
              <a:t> </a:t>
            </a:r>
            <a:r>
              <a:rPr spc="-10" dirty="0"/>
              <a:t>requests eﬃciently</a:t>
            </a:r>
          </a:p>
          <a:p>
            <a:pPr marL="12700" marR="5080">
              <a:lnSpc>
                <a:spcPts val="4090"/>
              </a:lnSpc>
              <a:spcBef>
                <a:spcPts val="5"/>
              </a:spcBef>
            </a:pPr>
            <a:r>
              <a:rPr dirty="0"/>
              <a:t>Preventing</a:t>
            </a:r>
            <a:r>
              <a:rPr spc="-195" dirty="0"/>
              <a:t> </a:t>
            </a:r>
            <a:r>
              <a:rPr spc="-45" dirty="0"/>
              <a:t>data</a:t>
            </a:r>
            <a:r>
              <a:rPr spc="-190" dirty="0"/>
              <a:t> </a:t>
            </a:r>
            <a:r>
              <a:rPr dirty="0"/>
              <a:t>duplication</a:t>
            </a:r>
            <a:r>
              <a:rPr spc="-190" dirty="0"/>
              <a:t> </a:t>
            </a:r>
            <a:r>
              <a:rPr spc="-35" dirty="0"/>
              <a:t>and</a:t>
            </a:r>
            <a:r>
              <a:rPr spc="-190" dirty="0"/>
              <a:t> </a:t>
            </a:r>
            <a:r>
              <a:rPr spc="-10" dirty="0"/>
              <a:t>errors </a:t>
            </a:r>
            <a:r>
              <a:rPr spc="-30" dirty="0"/>
              <a:t>Ensuring</a:t>
            </a:r>
            <a:r>
              <a:rPr spc="-215" dirty="0"/>
              <a:t> </a:t>
            </a:r>
            <a:r>
              <a:rPr spc="-45" dirty="0"/>
              <a:t>data</a:t>
            </a:r>
            <a:r>
              <a:rPr spc="-215" dirty="0"/>
              <a:t> </a:t>
            </a:r>
            <a:r>
              <a:rPr dirty="0"/>
              <a:t>security</a:t>
            </a:r>
            <a:r>
              <a:rPr spc="-315" dirty="0"/>
              <a:t> </a:t>
            </a:r>
            <a:r>
              <a:rPr spc="-35" dirty="0"/>
              <a:t>and</a:t>
            </a:r>
            <a:r>
              <a:rPr spc="-215" dirty="0"/>
              <a:t> </a:t>
            </a:r>
            <a:r>
              <a:rPr spc="-10" dirty="0"/>
              <a:t>privacy </a:t>
            </a:r>
            <a:r>
              <a:rPr dirty="0"/>
              <a:t>Managing</a:t>
            </a:r>
            <a:r>
              <a:rPr spc="-215" dirty="0"/>
              <a:t> </a:t>
            </a:r>
            <a:r>
              <a:rPr spc="-10" dirty="0"/>
              <a:t>scalability</a:t>
            </a:r>
            <a:r>
              <a:rPr spc="-315" dirty="0"/>
              <a:t> </a:t>
            </a:r>
            <a:r>
              <a:rPr spc="-95" dirty="0"/>
              <a:t>as</a:t>
            </a:r>
            <a:r>
              <a:rPr spc="-210" dirty="0"/>
              <a:t> </a:t>
            </a:r>
            <a:r>
              <a:rPr spc="-45" dirty="0"/>
              <a:t>data</a:t>
            </a:r>
            <a:r>
              <a:rPr spc="-215" dirty="0"/>
              <a:t> </a:t>
            </a:r>
            <a:r>
              <a:rPr spc="-10" dirty="0"/>
              <a:t>grows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9D24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640634" y="8060691"/>
            <a:ext cx="369570" cy="415925"/>
          </a:xfrm>
          <a:custGeom>
            <a:avLst/>
            <a:gdLst/>
            <a:ahLst/>
            <a:cxnLst/>
            <a:rect l="l" t="t" r="r" b="b"/>
            <a:pathLst>
              <a:path w="369570" h="415925">
                <a:moveTo>
                  <a:pt x="229060" y="415521"/>
                </a:moveTo>
                <a:lnTo>
                  <a:pt x="188849" y="410068"/>
                </a:lnTo>
                <a:lnTo>
                  <a:pt x="148622" y="394951"/>
                </a:lnTo>
                <a:lnTo>
                  <a:pt x="109936" y="370749"/>
                </a:lnTo>
                <a:lnTo>
                  <a:pt x="74350" y="338041"/>
                </a:lnTo>
                <a:lnTo>
                  <a:pt x="43423" y="297407"/>
                </a:lnTo>
                <a:lnTo>
                  <a:pt x="19834" y="252154"/>
                </a:lnTo>
                <a:lnTo>
                  <a:pt x="5407" y="206030"/>
                </a:lnTo>
                <a:lnTo>
                  <a:pt x="0" y="160692"/>
                </a:lnTo>
                <a:lnTo>
                  <a:pt x="3468" y="117797"/>
                </a:lnTo>
                <a:lnTo>
                  <a:pt x="15670" y="79003"/>
                </a:lnTo>
                <a:lnTo>
                  <a:pt x="36461" y="45967"/>
                </a:lnTo>
                <a:lnTo>
                  <a:pt x="65699" y="20347"/>
                </a:lnTo>
                <a:lnTo>
                  <a:pt x="101200" y="4750"/>
                </a:lnTo>
                <a:lnTo>
                  <a:pt x="139841" y="0"/>
                </a:lnTo>
                <a:lnTo>
                  <a:pt x="180069" y="5498"/>
                </a:lnTo>
                <a:lnTo>
                  <a:pt x="220331" y="20649"/>
                </a:lnTo>
                <a:lnTo>
                  <a:pt x="259076" y="44857"/>
                </a:lnTo>
                <a:lnTo>
                  <a:pt x="294748" y="77525"/>
                </a:lnTo>
                <a:lnTo>
                  <a:pt x="325797" y="118056"/>
                </a:lnTo>
                <a:lnTo>
                  <a:pt x="349282" y="163429"/>
                </a:lnTo>
                <a:lnTo>
                  <a:pt x="363662" y="209633"/>
                </a:lnTo>
                <a:lnTo>
                  <a:pt x="369057" y="255012"/>
                </a:lnTo>
                <a:lnTo>
                  <a:pt x="365588" y="297907"/>
                </a:lnTo>
                <a:lnTo>
                  <a:pt x="353374" y="336661"/>
                </a:lnTo>
                <a:lnTo>
                  <a:pt x="332536" y="369616"/>
                </a:lnTo>
                <a:lnTo>
                  <a:pt x="303194" y="395115"/>
                </a:lnTo>
                <a:lnTo>
                  <a:pt x="267694" y="410729"/>
                </a:lnTo>
                <a:lnTo>
                  <a:pt x="229060" y="415521"/>
                </a:lnTo>
                <a:close/>
              </a:path>
            </a:pathLst>
          </a:custGeom>
          <a:solidFill>
            <a:srgbClr val="C33B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489920" y="8950877"/>
            <a:ext cx="236854" cy="263525"/>
          </a:xfrm>
          <a:custGeom>
            <a:avLst/>
            <a:gdLst/>
            <a:ahLst/>
            <a:cxnLst/>
            <a:rect l="l" t="t" r="r" b="b"/>
            <a:pathLst>
              <a:path w="236854" h="263525">
                <a:moveTo>
                  <a:pt x="93247" y="263350"/>
                </a:moveTo>
                <a:lnTo>
                  <a:pt x="49546" y="250531"/>
                </a:lnTo>
                <a:lnTo>
                  <a:pt x="16604" y="219014"/>
                </a:lnTo>
                <a:lnTo>
                  <a:pt x="0" y="175447"/>
                </a:lnTo>
                <a:lnTo>
                  <a:pt x="716" y="125486"/>
                </a:lnTo>
                <a:lnTo>
                  <a:pt x="19736" y="74787"/>
                </a:lnTo>
                <a:lnTo>
                  <a:pt x="54086" y="33013"/>
                </a:lnTo>
                <a:lnTo>
                  <a:pt x="97004" y="7408"/>
                </a:lnTo>
                <a:lnTo>
                  <a:pt x="143054" y="0"/>
                </a:lnTo>
                <a:lnTo>
                  <a:pt x="186802" y="12818"/>
                </a:lnTo>
                <a:lnTo>
                  <a:pt x="219744" y="44335"/>
                </a:lnTo>
                <a:lnTo>
                  <a:pt x="236348" y="87902"/>
                </a:lnTo>
                <a:lnTo>
                  <a:pt x="235631" y="137863"/>
                </a:lnTo>
                <a:lnTo>
                  <a:pt x="216611" y="188562"/>
                </a:lnTo>
                <a:lnTo>
                  <a:pt x="182123" y="230336"/>
                </a:lnTo>
                <a:lnTo>
                  <a:pt x="139221" y="255942"/>
                </a:lnTo>
                <a:lnTo>
                  <a:pt x="93247" y="263350"/>
                </a:lnTo>
                <a:close/>
              </a:path>
            </a:pathLst>
          </a:custGeom>
          <a:solidFill>
            <a:srgbClr val="E15C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24991" y="10252985"/>
            <a:ext cx="173355" cy="34290"/>
          </a:xfrm>
          <a:custGeom>
            <a:avLst/>
            <a:gdLst/>
            <a:ahLst/>
            <a:cxnLst/>
            <a:rect l="l" t="t" r="r" b="b"/>
            <a:pathLst>
              <a:path w="173354" h="34290">
                <a:moveTo>
                  <a:pt x="173159" y="34014"/>
                </a:moveTo>
                <a:lnTo>
                  <a:pt x="0" y="34014"/>
                </a:lnTo>
                <a:lnTo>
                  <a:pt x="30477" y="14366"/>
                </a:lnTo>
                <a:lnTo>
                  <a:pt x="68476" y="1517"/>
                </a:lnTo>
                <a:lnTo>
                  <a:pt x="106475" y="0"/>
                </a:lnTo>
                <a:lnTo>
                  <a:pt x="142509" y="10759"/>
                </a:lnTo>
                <a:lnTo>
                  <a:pt x="172575" y="33161"/>
                </a:lnTo>
                <a:lnTo>
                  <a:pt x="173159" y="34014"/>
                </a:lnTo>
                <a:close/>
              </a:path>
            </a:pathLst>
          </a:custGeom>
          <a:solidFill>
            <a:srgbClr val="D04A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613662" y="7856307"/>
            <a:ext cx="371475" cy="276225"/>
          </a:xfrm>
          <a:custGeom>
            <a:avLst/>
            <a:gdLst/>
            <a:ahLst/>
            <a:cxnLst/>
            <a:rect l="l" t="t" r="r" b="b"/>
            <a:pathLst>
              <a:path w="371475" h="276225">
                <a:moveTo>
                  <a:pt x="131075" y="276100"/>
                </a:moveTo>
                <a:lnTo>
                  <a:pt x="87833" y="269447"/>
                </a:lnTo>
                <a:lnTo>
                  <a:pt x="50952" y="254241"/>
                </a:lnTo>
                <a:lnTo>
                  <a:pt x="4751" y="200468"/>
                </a:lnTo>
                <a:lnTo>
                  <a:pt x="0" y="165408"/>
                </a:lnTo>
                <a:lnTo>
                  <a:pt x="8124" y="129610"/>
                </a:lnTo>
                <a:lnTo>
                  <a:pt x="27804" y="94850"/>
                </a:lnTo>
                <a:lnTo>
                  <a:pt x="57722" y="62904"/>
                </a:lnTo>
                <a:lnTo>
                  <a:pt x="96557" y="35549"/>
                </a:lnTo>
                <a:lnTo>
                  <a:pt x="142989" y="14560"/>
                </a:lnTo>
                <a:lnTo>
                  <a:pt x="192592" y="2412"/>
                </a:lnTo>
                <a:lnTo>
                  <a:pt x="240074" y="0"/>
                </a:lnTo>
                <a:lnTo>
                  <a:pt x="283316" y="6732"/>
                </a:lnTo>
                <a:lnTo>
                  <a:pt x="320198" y="22016"/>
                </a:lnTo>
                <a:lnTo>
                  <a:pt x="348599" y="45261"/>
                </a:lnTo>
                <a:lnTo>
                  <a:pt x="366399" y="75874"/>
                </a:lnTo>
                <a:lnTo>
                  <a:pt x="371286" y="110910"/>
                </a:lnTo>
                <a:lnTo>
                  <a:pt x="363244" y="146647"/>
                </a:lnTo>
                <a:lnTo>
                  <a:pt x="343591" y="181328"/>
                </a:lnTo>
                <a:lnTo>
                  <a:pt x="313646" y="213195"/>
                </a:lnTo>
                <a:lnTo>
                  <a:pt x="274729" y="240490"/>
                </a:lnTo>
                <a:lnTo>
                  <a:pt x="228160" y="261454"/>
                </a:lnTo>
                <a:lnTo>
                  <a:pt x="178557" y="273627"/>
                </a:lnTo>
                <a:lnTo>
                  <a:pt x="131075" y="276100"/>
                </a:lnTo>
                <a:close/>
              </a:path>
            </a:pathLst>
          </a:custGeom>
          <a:solidFill>
            <a:srgbClr val="C33B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09215" y="8268587"/>
            <a:ext cx="1078865" cy="733425"/>
          </a:xfrm>
          <a:custGeom>
            <a:avLst/>
            <a:gdLst/>
            <a:ahLst/>
            <a:cxnLst/>
            <a:rect l="l" t="t" r="r" b="b"/>
            <a:pathLst>
              <a:path w="1078865" h="733425">
                <a:moveTo>
                  <a:pt x="539195" y="733142"/>
                </a:moveTo>
                <a:lnTo>
                  <a:pt x="482497" y="731143"/>
                </a:lnTo>
                <a:lnTo>
                  <a:pt x="427492" y="725277"/>
                </a:lnTo>
                <a:lnTo>
                  <a:pt x="374474" y="715742"/>
                </a:lnTo>
                <a:lnTo>
                  <a:pt x="323739" y="702737"/>
                </a:lnTo>
                <a:lnTo>
                  <a:pt x="275582" y="686460"/>
                </a:lnTo>
                <a:lnTo>
                  <a:pt x="230299" y="667108"/>
                </a:lnTo>
                <a:lnTo>
                  <a:pt x="188185" y="644881"/>
                </a:lnTo>
                <a:lnTo>
                  <a:pt x="149536" y="619974"/>
                </a:lnTo>
                <a:lnTo>
                  <a:pt x="114646" y="592588"/>
                </a:lnTo>
                <a:lnTo>
                  <a:pt x="83811" y="562920"/>
                </a:lnTo>
                <a:lnTo>
                  <a:pt x="57326" y="531167"/>
                </a:lnTo>
                <a:lnTo>
                  <a:pt x="32890" y="492907"/>
                </a:lnTo>
                <a:lnTo>
                  <a:pt x="14904" y="452558"/>
                </a:lnTo>
                <a:lnTo>
                  <a:pt x="3797" y="410363"/>
                </a:lnTo>
                <a:lnTo>
                  <a:pt x="0" y="366571"/>
                </a:lnTo>
                <a:lnTo>
                  <a:pt x="2784" y="329061"/>
                </a:lnTo>
                <a:lnTo>
                  <a:pt x="24242" y="257497"/>
                </a:lnTo>
                <a:lnTo>
                  <a:pt x="42375" y="223809"/>
                </a:lnTo>
                <a:lnTo>
                  <a:pt x="65082" y="191762"/>
                </a:lnTo>
                <a:lnTo>
                  <a:pt x="92091" y="161539"/>
                </a:lnTo>
                <a:lnTo>
                  <a:pt x="123132" y="133323"/>
                </a:lnTo>
                <a:lnTo>
                  <a:pt x="157934" y="107299"/>
                </a:lnTo>
                <a:lnTo>
                  <a:pt x="196225" y="83649"/>
                </a:lnTo>
                <a:lnTo>
                  <a:pt x="237734" y="62557"/>
                </a:lnTo>
                <a:lnTo>
                  <a:pt x="282191" y="44207"/>
                </a:lnTo>
                <a:lnTo>
                  <a:pt x="329324" y="28781"/>
                </a:lnTo>
                <a:lnTo>
                  <a:pt x="378862" y="16464"/>
                </a:lnTo>
                <a:lnTo>
                  <a:pt x="430534" y="7440"/>
                </a:lnTo>
                <a:lnTo>
                  <a:pt x="484069" y="1890"/>
                </a:lnTo>
                <a:lnTo>
                  <a:pt x="539195" y="0"/>
                </a:lnTo>
                <a:lnTo>
                  <a:pt x="594379" y="1884"/>
                </a:lnTo>
                <a:lnTo>
                  <a:pt x="647964" y="7429"/>
                </a:lnTo>
                <a:lnTo>
                  <a:pt x="699680" y="16449"/>
                </a:lnTo>
                <a:lnTo>
                  <a:pt x="749255" y="28763"/>
                </a:lnTo>
                <a:lnTo>
                  <a:pt x="796420" y="44185"/>
                </a:lnTo>
                <a:lnTo>
                  <a:pt x="840903" y="62534"/>
                </a:lnTo>
                <a:lnTo>
                  <a:pt x="882435" y="83625"/>
                </a:lnTo>
                <a:lnTo>
                  <a:pt x="920743" y="107274"/>
                </a:lnTo>
                <a:lnTo>
                  <a:pt x="955558" y="133299"/>
                </a:lnTo>
                <a:lnTo>
                  <a:pt x="986610" y="161516"/>
                </a:lnTo>
                <a:lnTo>
                  <a:pt x="1013626" y="191741"/>
                </a:lnTo>
                <a:lnTo>
                  <a:pt x="1036338" y="223791"/>
                </a:lnTo>
                <a:lnTo>
                  <a:pt x="1054473" y="257482"/>
                </a:lnTo>
                <a:lnTo>
                  <a:pt x="1075934" y="329056"/>
                </a:lnTo>
                <a:lnTo>
                  <a:pt x="1078718" y="366571"/>
                </a:lnTo>
                <a:lnTo>
                  <a:pt x="1075570" y="406562"/>
                </a:lnTo>
                <a:lnTo>
                  <a:pt x="1066311" y="445262"/>
                </a:lnTo>
                <a:lnTo>
                  <a:pt x="1051217" y="482487"/>
                </a:lnTo>
                <a:lnTo>
                  <a:pt x="1030564" y="518052"/>
                </a:lnTo>
                <a:lnTo>
                  <a:pt x="1004921" y="551662"/>
                </a:lnTo>
                <a:lnTo>
                  <a:pt x="974490" y="583130"/>
                </a:lnTo>
                <a:lnTo>
                  <a:pt x="939597" y="612233"/>
                </a:lnTo>
                <a:lnTo>
                  <a:pt x="900571" y="638749"/>
                </a:lnTo>
                <a:lnTo>
                  <a:pt x="857739" y="662453"/>
                </a:lnTo>
                <a:lnTo>
                  <a:pt x="811430" y="683122"/>
                </a:lnTo>
                <a:lnTo>
                  <a:pt x="761972" y="700534"/>
                </a:lnTo>
                <a:lnTo>
                  <a:pt x="709691" y="714465"/>
                </a:lnTo>
                <a:lnTo>
                  <a:pt x="654916" y="724692"/>
                </a:lnTo>
                <a:lnTo>
                  <a:pt x="597975" y="730992"/>
                </a:lnTo>
                <a:lnTo>
                  <a:pt x="539195" y="733142"/>
                </a:lnTo>
                <a:close/>
              </a:path>
            </a:pathLst>
          </a:custGeom>
          <a:solidFill>
            <a:srgbClr val="C33B5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0888854" y="8288638"/>
            <a:ext cx="3161665" cy="1998980"/>
            <a:chOff x="10888854" y="8288638"/>
            <a:chExt cx="3161665" cy="1998980"/>
          </a:xfrm>
        </p:grpSpPr>
        <p:sp>
          <p:nvSpPr>
            <p:cNvPr id="9" name="object 9"/>
            <p:cNvSpPr/>
            <p:nvPr/>
          </p:nvSpPr>
          <p:spPr>
            <a:xfrm>
              <a:off x="10888854" y="8288638"/>
              <a:ext cx="1343660" cy="1638300"/>
            </a:xfrm>
            <a:custGeom>
              <a:avLst/>
              <a:gdLst/>
              <a:ahLst/>
              <a:cxnLst/>
              <a:rect l="l" t="t" r="r" b="b"/>
              <a:pathLst>
                <a:path w="1343659" h="1638300">
                  <a:moveTo>
                    <a:pt x="443016" y="1637790"/>
                  </a:moveTo>
                  <a:lnTo>
                    <a:pt x="392749" y="1638044"/>
                  </a:lnTo>
                  <a:lnTo>
                    <a:pt x="343909" y="1632826"/>
                  </a:lnTo>
                  <a:lnTo>
                    <a:pt x="296763" y="1621998"/>
                  </a:lnTo>
                  <a:lnTo>
                    <a:pt x="251574" y="1605422"/>
                  </a:lnTo>
                  <a:lnTo>
                    <a:pt x="208608" y="1582960"/>
                  </a:lnTo>
                  <a:lnTo>
                    <a:pt x="149034" y="1537983"/>
                  </a:lnTo>
                  <a:lnTo>
                    <a:pt x="99420" y="1482177"/>
                  </a:lnTo>
                  <a:lnTo>
                    <a:pt x="59788" y="1416657"/>
                  </a:lnTo>
                  <a:lnTo>
                    <a:pt x="43721" y="1380605"/>
                  </a:lnTo>
                  <a:lnTo>
                    <a:pt x="30159" y="1342544"/>
                  </a:lnTo>
                  <a:lnTo>
                    <a:pt x="19103" y="1302614"/>
                  </a:lnTo>
                  <a:lnTo>
                    <a:pt x="10556" y="1260954"/>
                  </a:lnTo>
                  <a:lnTo>
                    <a:pt x="4522" y="1217705"/>
                  </a:lnTo>
                  <a:lnTo>
                    <a:pt x="1002" y="1173006"/>
                  </a:lnTo>
                  <a:lnTo>
                    <a:pt x="0" y="1126997"/>
                  </a:lnTo>
                  <a:lnTo>
                    <a:pt x="1518" y="1079818"/>
                  </a:lnTo>
                  <a:lnTo>
                    <a:pt x="5559" y="1031608"/>
                  </a:lnTo>
                  <a:lnTo>
                    <a:pt x="12126" y="982507"/>
                  </a:lnTo>
                  <a:lnTo>
                    <a:pt x="21221" y="932655"/>
                  </a:lnTo>
                  <a:lnTo>
                    <a:pt x="32849" y="882192"/>
                  </a:lnTo>
                  <a:lnTo>
                    <a:pt x="47010" y="831258"/>
                  </a:lnTo>
                  <a:lnTo>
                    <a:pt x="63708" y="779992"/>
                  </a:lnTo>
                  <a:lnTo>
                    <a:pt x="82946" y="728533"/>
                  </a:lnTo>
                  <a:lnTo>
                    <a:pt x="104726" y="677023"/>
                  </a:lnTo>
                  <a:lnTo>
                    <a:pt x="129052" y="625600"/>
                  </a:lnTo>
                  <a:lnTo>
                    <a:pt x="155926" y="574404"/>
                  </a:lnTo>
                  <a:lnTo>
                    <a:pt x="185350" y="523575"/>
                  </a:lnTo>
                  <a:lnTo>
                    <a:pt x="216843" y="473968"/>
                  </a:lnTo>
                  <a:lnTo>
                    <a:pt x="249836" y="426461"/>
                  </a:lnTo>
                  <a:lnTo>
                    <a:pt x="284206" y="381117"/>
                  </a:lnTo>
                  <a:lnTo>
                    <a:pt x="319826" y="337998"/>
                  </a:lnTo>
                  <a:lnTo>
                    <a:pt x="356572" y="297164"/>
                  </a:lnTo>
                  <a:lnTo>
                    <a:pt x="394318" y="258678"/>
                  </a:lnTo>
                  <a:lnTo>
                    <a:pt x="432940" y="222601"/>
                  </a:lnTo>
                  <a:lnTo>
                    <a:pt x="472313" y="188995"/>
                  </a:lnTo>
                  <a:lnTo>
                    <a:pt x="512311" y="157921"/>
                  </a:lnTo>
                  <a:lnTo>
                    <a:pt x="552810" y="129441"/>
                  </a:lnTo>
                  <a:lnTo>
                    <a:pt x="593684" y="103616"/>
                  </a:lnTo>
                  <a:lnTo>
                    <a:pt x="634809" y="80509"/>
                  </a:lnTo>
                  <a:lnTo>
                    <a:pt x="676059" y="60179"/>
                  </a:lnTo>
                  <a:lnTo>
                    <a:pt x="717310" y="42690"/>
                  </a:lnTo>
                  <a:lnTo>
                    <a:pt x="758436" y="28102"/>
                  </a:lnTo>
                  <a:lnTo>
                    <a:pt x="799312" y="16478"/>
                  </a:lnTo>
                  <a:lnTo>
                    <a:pt x="839813" y="7878"/>
                  </a:lnTo>
                  <a:lnTo>
                    <a:pt x="879815" y="2365"/>
                  </a:lnTo>
                  <a:lnTo>
                    <a:pt x="919192" y="0"/>
                  </a:lnTo>
                  <a:lnTo>
                    <a:pt x="957819" y="844"/>
                  </a:lnTo>
                  <a:lnTo>
                    <a:pt x="1032323" y="12406"/>
                  </a:lnTo>
                  <a:lnTo>
                    <a:pt x="1102328" y="37546"/>
                  </a:lnTo>
                  <a:lnTo>
                    <a:pt x="1173950" y="82375"/>
                  </a:lnTo>
                  <a:lnTo>
                    <a:pt x="1208632" y="113850"/>
                  </a:lnTo>
                  <a:lnTo>
                    <a:pt x="1239367" y="149507"/>
                  </a:lnTo>
                  <a:lnTo>
                    <a:pt x="1266147" y="189068"/>
                  </a:lnTo>
                  <a:lnTo>
                    <a:pt x="1288965" y="232253"/>
                  </a:lnTo>
                  <a:lnTo>
                    <a:pt x="1307812" y="278782"/>
                  </a:lnTo>
                  <a:lnTo>
                    <a:pt x="1322682" y="328376"/>
                  </a:lnTo>
                  <a:lnTo>
                    <a:pt x="1333565" y="380756"/>
                  </a:lnTo>
                  <a:lnTo>
                    <a:pt x="1340455" y="435642"/>
                  </a:lnTo>
                  <a:lnTo>
                    <a:pt x="1343343" y="492755"/>
                  </a:lnTo>
                  <a:lnTo>
                    <a:pt x="1343023" y="537260"/>
                  </a:lnTo>
                  <a:lnTo>
                    <a:pt x="1340397" y="582772"/>
                  </a:lnTo>
                  <a:lnTo>
                    <a:pt x="1335463" y="629168"/>
                  </a:lnTo>
                  <a:lnTo>
                    <a:pt x="1328218" y="676324"/>
                  </a:lnTo>
                  <a:lnTo>
                    <a:pt x="1318660" y="724120"/>
                  </a:lnTo>
                  <a:lnTo>
                    <a:pt x="1306786" y="772431"/>
                  </a:lnTo>
                  <a:lnTo>
                    <a:pt x="1292593" y="821135"/>
                  </a:lnTo>
                  <a:lnTo>
                    <a:pt x="1276078" y="870110"/>
                  </a:lnTo>
                  <a:lnTo>
                    <a:pt x="1257240" y="919232"/>
                  </a:lnTo>
                  <a:lnTo>
                    <a:pt x="1236074" y="968379"/>
                  </a:lnTo>
                  <a:lnTo>
                    <a:pt x="1212578" y="1017429"/>
                  </a:lnTo>
                  <a:lnTo>
                    <a:pt x="1186751" y="1066259"/>
                  </a:lnTo>
                  <a:lnTo>
                    <a:pt x="1158588" y="1114745"/>
                  </a:lnTo>
                  <a:lnTo>
                    <a:pt x="1127824" y="1163210"/>
                  </a:lnTo>
                  <a:lnTo>
                    <a:pt x="1095623" y="1209675"/>
                  </a:lnTo>
                  <a:lnTo>
                    <a:pt x="1062102" y="1254084"/>
                  </a:lnTo>
                  <a:lnTo>
                    <a:pt x="1027379" y="1296379"/>
                  </a:lnTo>
                  <a:lnTo>
                    <a:pt x="991571" y="1336502"/>
                  </a:lnTo>
                  <a:lnTo>
                    <a:pt x="954797" y="1374396"/>
                  </a:lnTo>
                  <a:lnTo>
                    <a:pt x="917174" y="1410002"/>
                  </a:lnTo>
                  <a:lnTo>
                    <a:pt x="878819" y="1443263"/>
                  </a:lnTo>
                  <a:lnTo>
                    <a:pt x="839851" y="1474121"/>
                  </a:lnTo>
                  <a:lnTo>
                    <a:pt x="800386" y="1502519"/>
                  </a:lnTo>
                  <a:lnTo>
                    <a:pt x="760543" y="1528399"/>
                  </a:lnTo>
                  <a:lnTo>
                    <a:pt x="720439" y="1551703"/>
                  </a:lnTo>
                  <a:lnTo>
                    <a:pt x="680192" y="1572374"/>
                  </a:lnTo>
                  <a:lnTo>
                    <a:pt x="639919" y="1590353"/>
                  </a:lnTo>
                  <a:lnTo>
                    <a:pt x="599738" y="1605583"/>
                  </a:lnTo>
                  <a:lnTo>
                    <a:pt x="546776" y="1621422"/>
                  </a:lnTo>
                  <a:lnTo>
                    <a:pt x="494447" y="1632203"/>
                  </a:lnTo>
                  <a:lnTo>
                    <a:pt x="443016" y="1637790"/>
                  </a:lnTo>
                  <a:close/>
                </a:path>
              </a:pathLst>
            </a:custGeom>
            <a:solidFill>
              <a:srgbClr val="B62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996625" y="9455844"/>
              <a:ext cx="2054225" cy="831215"/>
            </a:xfrm>
            <a:custGeom>
              <a:avLst/>
              <a:gdLst/>
              <a:ahLst/>
              <a:cxnLst/>
              <a:rect l="l" t="t" r="r" b="b"/>
              <a:pathLst>
                <a:path w="2054225" h="831215">
                  <a:moveTo>
                    <a:pt x="2053678" y="831154"/>
                  </a:moveTo>
                  <a:lnTo>
                    <a:pt x="0" y="831154"/>
                  </a:lnTo>
                  <a:lnTo>
                    <a:pt x="3022" y="816369"/>
                  </a:lnTo>
                  <a:lnTo>
                    <a:pt x="14289" y="771507"/>
                  </a:lnTo>
                  <a:lnTo>
                    <a:pt x="27454" y="727432"/>
                  </a:lnTo>
                  <a:lnTo>
                    <a:pt x="42470" y="684190"/>
                  </a:lnTo>
                  <a:lnTo>
                    <a:pt x="59293" y="641827"/>
                  </a:lnTo>
                  <a:lnTo>
                    <a:pt x="77874" y="600390"/>
                  </a:lnTo>
                  <a:lnTo>
                    <a:pt x="98169" y="559926"/>
                  </a:lnTo>
                  <a:lnTo>
                    <a:pt x="120130" y="520481"/>
                  </a:lnTo>
                  <a:lnTo>
                    <a:pt x="143711" y="482100"/>
                  </a:lnTo>
                  <a:lnTo>
                    <a:pt x="168866" y="444831"/>
                  </a:lnTo>
                  <a:lnTo>
                    <a:pt x="195549" y="408720"/>
                  </a:lnTo>
                  <a:lnTo>
                    <a:pt x="223713" y="373813"/>
                  </a:lnTo>
                  <a:lnTo>
                    <a:pt x="253312" y="340157"/>
                  </a:lnTo>
                  <a:lnTo>
                    <a:pt x="284299" y="307798"/>
                  </a:lnTo>
                  <a:lnTo>
                    <a:pt x="316628" y="276782"/>
                  </a:lnTo>
                  <a:lnTo>
                    <a:pt x="350253" y="247156"/>
                  </a:lnTo>
                  <a:lnTo>
                    <a:pt x="385128" y="218966"/>
                  </a:lnTo>
                  <a:lnTo>
                    <a:pt x="421206" y="192259"/>
                  </a:lnTo>
                  <a:lnTo>
                    <a:pt x="458440" y="167081"/>
                  </a:lnTo>
                  <a:lnTo>
                    <a:pt x="496785" y="143478"/>
                  </a:lnTo>
                  <a:lnTo>
                    <a:pt x="536195" y="121497"/>
                  </a:lnTo>
                  <a:lnTo>
                    <a:pt x="576622" y="101183"/>
                  </a:lnTo>
                  <a:lnTo>
                    <a:pt x="618020" y="82585"/>
                  </a:lnTo>
                  <a:lnTo>
                    <a:pt x="660344" y="65747"/>
                  </a:lnTo>
                  <a:lnTo>
                    <a:pt x="703546" y="50716"/>
                  </a:lnTo>
                  <a:lnTo>
                    <a:pt x="747581" y="37539"/>
                  </a:lnTo>
                  <a:lnTo>
                    <a:pt x="792402" y="26262"/>
                  </a:lnTo>
                  <a:lnTo>
                    <a:pt x="837962" y="16931"/>
                  </a:lnTo>
                  <a:lnTo>
                    <a:pt x="884216" y="9593"/>
                  </a:lnTo>
                  <a:lnTo>
                    <a:pt x="931117" y="4294"/>
                  </a:lnTo>
                  <a:lnTo>
                    <a:pt x="978619" y="1081"/>
                  </a:lnTo>
                  <a:lnTo>
                    <a:pt x="1026675" y="0"/>
                  </a:lnTo>
                  <a:lnTo>
                    <a:pt x="1074758" y="1081"/>
                  </a:lnTo>
                  <a:lnTo>
                    <a:pt x="1122285" y="4294"/>
                  </a:lnTo>
                  <a:lnTo>
                    <a:pt x="1169210" y="9593"/>
                  </a:lnTo>
                  <a:lnTo>
                    <a:pt x="1215486" y="16931"/>
                  </a:lnTo>
                  <a:lnTo>
                    <a:pt x="1261067" y="26262"/>
                  </a:lnTo>
                  <a:lnTo>
                    <a:pt x="1305908" y="37539"/>
                  </a:lnTo>
                  <a:lnTo>
                    <a:pt x="1349961" y="50716"/>
                  </a:lnTo>
                  <a:lnTo>
                    <a:pt x="1393180" y="65747"/>
                  </a:lnTo>
                  <a:lnTo>
                    <a:pt x="1435520" y="82585"/>
                  </a:lnTo>
                  <a:lnTo>
                    <a:pt x="1476933" y="101183"/>
                  </a:lnTo>
                  <a:lnTo>
                    <a:pt x="1517374" y="121497"/>
                  </a:lnTo>
                  <a:lnTo>
                    <a:pt x="1556796" y="143478"/>
                  </a:lnTo>
                  <a:lnTo>
                    <a:pt x="1595152" y="167081"/>
                  </a:lnTo>
                  <a:lnTo>
                    <a:pt x="1632398" y="192259"/>
                  </a:lnTo>
                  <a:lnTo>
                    <a:pt x="1668485" y="218966"/>
                  </a:lnTo>
                  <a:lnTo>
                    <a:pt x="1703369" y="247156"/>
                  </a:lnTo>
                  <a:lnTo>
                    <a:pt x="1737002" y="276782"/>
                  </a:lnTo>
                  <a:lnTo>
                    <a:pt x="1769339" y="307798"/>
                  </a:lnTo>
                  <a:lnTo>
                    <a:pt x="1800332" y="340157"/>
                  </a:lnTo>
                  <a:lnTo>
                    <a:pt x="1829937" y="373813"/>
                  </a:lnTo>
                  <a:lnTo>
                    <a:pt x="1858106" y="408720"/>
                  </a:lnTo>
                  <a:lnTo>
                    <a:pt x="1884793" y="444831"/>
                  </a:lnTo>
                  <a:lnTo>
                    <a:pt x="1909952" y="482100"/>
                  </a:lnTo>
                  <a:lnTo>
                    <a:pt x="1933536" y="520481"/>
                  </a:lnTo>
                  <a:lnTo>
                    <a:pt x="1955500" y="559926"/>
                  </a:lnTo>
                  <a:lnTo>
                    <a:pt x="1975797" y="600390"/>
                  </a:lnTo>
                  <a:lnTo>
                    <a:pt x="1994381" y="641827"/>
                  </a:lnTo>
                  <a:lnTo>
                    <a:pt x="2011205" y="684190"/>
                  </a:lnTo>
                  <a:lnTo>
                    <a:pt x="2026223" y="727432"/>
                  </a:lnTo>
                  <a:lnTo>
                    <a:pt x="2039388" y="771507"/>
                  </a:lnTo>
                  <a:lnTo>
                    <a:pt x="2050656" y="816369"/>
                  </a:lnTo>
                  <a:lnTo>
                    <a:pt x="2053678" y="831154"/>
                  </a:lnTo>
                  <a:close/>
                </a:path>
              </a:pathLst>
            </a:custGeom>
            <a:solidFill>
              <a:srgbClr val="AC1F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343054" y="8458003"/>
              <a:ext cx="426084" cy="142875"/>
            </a:xfrm>
            <a:custGeom>
              <a:avLst/>
              <a:gdLst/>
              <a:ahLst/>
              <a:cxnLst/>
              <a:rect l="l" t="t" r="r" b="b"/>
              <a:pathLst>
                <a:path w="426084" h="142875">
                  <a:moveTo>
                    <a:pt x="177644" y="142628"/>
                  </a:moveTo>
                  <a:lnTo>
                    <a:pt x="101449" y="135566"/>
                  </a:lnTo>
                  <a:lnTo>
                    <a:pt x="62093" y="126734"/>
                  </a:lnTo>
                  <a:lnTo>
                    <a:pt x="21913" y="114365"/>
                  </a:lnTo>
                  <a:lnTo>
                    <a:pt x="0" y="85515"/>
                  </a:lnTo>
                  <a:lnTo>
                    <a:pt x="1767" y="72625"/>
                  </a:lnTo>
                  <a:lnTo>
                    <a:pt x="8393" y="61429"/>
                  </a:lnTo>
                  <a:lnTo>
                    <a:pt x="18441" y="53899"/>
                  </a:lnTo>
                  <a:lnTo>
                    <a:pt x="30577" y="50691"/>
                  </a:lnTo>
                  <a:lnTo>
                    <a:pt x="43468" y="52461"/>
                  </a:lnTo>
                  <a:lnTo>
                    <a:pt x="96677" y="67795"/>
                  </a:lnTo>
                  <a:lnTo>
                    <a:pt x="147656" y="75873"/>
                  </a:lnTo>
                  <a:lnTo>
                    <a:pt x="196508" y="76680"/>
                  </a:lnTo>
                  <a:lnTo>
                    <a:pt x="243336" y="70197"/>
                  </a:lnTo>
                  <a:lnTo>
                    <a:pt x="288245" y="56410"/>
                  </a:lnTo>
                  <a:lnTo>
                    <a:pt x="331337" y="35300"/>
                  </a:lnTo>
                  <a:lnTo>
                    <a:pt x="372718" y="6852"/>
                  </a:lnTo>
                  <a:lnTo>
                    <a:pt x="384359" y="951"/>
                  </a:lnTo>
                  <a:lnTo>
                    <a:pt x="424610" y="23835"/>
                  </a:lnTo>
                  <a:lnTo>
                    <a:pt x="425569" y="36366"/>
                  </a:lnTo>
                  <a:lnTo>
                    <a:pt x="421755" y="48337"/>
                  </a:lnTo>
                  <a:lnTo>
                    <a:pt x="369822" y="88606"/>
                  </a:lnTo>
                  <a:lnTo>
                    <a:pt x="324449" y="112224"/>
                  </a:lnTo>
                  <a:lnTo>
                    <a:pt x="277264" y="129108"/>
                  </a:lnTo>
                  <a:lnTo>
                    <a:pt x="228314" y="139246"/>
                  </a:lnTo>
                  <a:lnTo>
                    <a:pt x="177644" y="142628"/>
                  </a:lnTo>
                  <a:close/>
                </a:path>
              </a:pathLst>
            </a:custGeom>
            <a:solidFill>
              <a:srgbClr val="E15C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206864" y="8639224"/>
              <a:ext cx="483234" cy="644525"/>
            </a:xfrm>
            <a:custGeom>
              <a:avLst/>
              <a:gdLst/>
              <a:ahLst/>
              <a:cxnLst/>
              <a:rect l="l" t="t" r="r" b="b"/>
              <a:pathLst>
                <a:path w="483234" h="644525">
                  <a:moveTo>
                    <a:pt x="36830" y="644155"/>
                  </a:moveTo>
                  <a:lnTo>
                    <a:pt x="32768" y="644155"/>
                  </a:lnTo>
                  <a:lnTo>
                    <a:pt x="23269" y="642741"/>
                  </a:lnTo>
                  <a:lnTo>
                    <a:pt x="14633" y="638671"/>
                  </a:lnTo>
                  <a:lnTo>
                    <a:pt x="7464" y="632204"/>
                  </a:lnTo>
                  <a:lnTo>
                    <a:pt x="2369" y="623597"/>
                  </a:lnTo>
                  <a:lnTo>
                    <a:pt x="0" y="610785"/>
                  </a:lnTo>
                  <a:lnTo>
                    <a:pt x="2627" y="598493"/>
                  </a:lnTo>
                  <a:lnTo>
                    <a:pt x="9670" y="588089"/>
                  </a:lnTo>
                  <a:lnTo>
                    <a:pt x="20549" y="580939"/>
                  </a:lnTo>
                  <a:lnTo>
                    <a:pt x="67393" y="560384"/>
                  </a:lnTo>
                  <a:lnTo>
                    <a:pt x="111272" y="537594"/>
                  </a:lnTo>
                  <a:lnTo>
                    <a:pt x="152197" y="512549"/>
                  </a:lnTo>
                  <a:lnTo>
                    <a:pt x="190184" y="485233"/>
                  </a:lnTo>
                  <a:lnTo>
                    <a:pt x="225244" y="455626"/>
                  </a:lnTo>
                  <a:lnTo>
                    <a:pt x="257391" y="423710"/>
                  </a:lnTo>
                  <a:lnTo>
                    <a:pt x="286639" y="389468"/>
                  </a:lnTo>
                  <a:lnTo>
                    <a:pt x="313000" y="352880"/>
                  </a:lnTo>
                  <a:lnTo>
                    <a:pt x="336487" y="313930"/>
                  </a:lnTo>
                  <a:lnTo>
                    <a:pt x="357114" y="272598"/>
                  </a:lnTo>
                  <a:lnTo>
                    <a:pt x="374894" y="228865"/>
                  </a:lnTo>
                  <a:lnTo>
                    <a:pt x="389840" y="182715"/>
                  </a:lnTo>
                  <a:lnTo>
                    <a:pt x="401965" y="134129"/>
                  </a:lnTo>
                  <a:lnTo>
                    <a:pt x="411282" y="83088"/>
                  </a:lnTo>
                  <a:lnTo>
                    <a:pt x="417805" y="29574"/>
                  </a:lnTo>
                  <a:lnTo>
                    <a:pt x="421509" y="17110"/>
                  </a:lnTo>
                  <a:lnTo>
                    <a:pt x="429381" y="7397"/>
                  </a:lnTo>
                  <a:lnTo>
                    <a:pt x="440391" y="1379"/>
                  </a:lnTo>
                  <a:lnTo>
                    <a:pt x="453511" y="0"/>
                  </a:lnTo>
                  <a:lnTo>
                    <a:pt x="465964" y="3767"/>
                  </a:lnTo>
                  <a:lnTo>
                    <a:pt x="475668" y="11746"/>
                  </a:lnTo>
                  <a:lnTo>
                    <a:pt x="481680" y="22786"/>
                  </a:lnTo>
                  <a:lnTo>
                    <a:pt x="483059" y="35739"/>
                  </a:lnTo>
                  <a:lnTo>
                    <a:pt x="476444" y="90229"/>
                  </a:lnTo>
                  <a:lnTo>
                    <a:pt x="467033" y="142543"/>
                  </a:lnTo>
                  <a:lnTo>
                    <a:pt x="454831" y="192673"/>
                  </a:lnTo>
                  <a:lnTo>
                    <a:pt x="439845" y="240611"/>
                  </a:lnTo>
                  <a:lnTo>
                    <a:pt x="422080" y="286347"/>
                  </a:lnTo>
                  <a:lnTo>
                    <a:pt x="401543" y="329873"/>
                  </a:lnTo>
                  <a:lnTo>
                    <a:pt x="378239" y="371182"/>
                  </a:lnTo>
                  <a:lnTo>
                    <a:pt x="352174" y="410265"/>
                  </a:lnTo>
                  <a:lnTo>
                    <a:pt x="323355" y="447114"/>
                  </a:lnTo>
                  <a:lnTo>
                    <a:pt x="291787" y="481719"/>
                  </a:lnTo>
                  <a:lnTo>
                    <a:pt x="257476" y="514074"/>
                  </a:lnTo>
                  <a:lnTo>
                    <a:pt x="220428" y="544170"/>
                  </a:lnTo>
                  <a:lnTo>
                    <a:pt x="180649" y="571998"/>
                  </a:lnTo>
                  <a:lnTo>
                    <a:pt x="138146" y="597551"/>
                  </a:lnTo>
                  <a:lnTo>
                    <a:pt x="92923" y="620819"/>
                  </a:lnTo>
                  <a:lnTo>
                    <a:pt x="40990" y="643368"/>
                  </a:lnTo>
                  <a:lnTo>
                    <a:pt x="36830" y="644155"/>
                  </a:lnTo>
                  <a:close/>
                </a:path>
              </a:pathLst>
            </a:custGeom>
            <a:solidFill>
              <a:srgbClr val="D646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29525" y="1183133"/>
            <a:ext cx="7578725" cy="1903730"/>
          </a:xfrm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L="12700" marR="5080">
              <a:lnSpc>
                <a:spcPts val="6700"/>
              </a:lnSpc>
              <a:spcBef>
                <a:spcPts val="1475"/>
              </a:spcBef>
            </a:pPr>
            <a:r>
              <a:rPr sz="6700" spc="-265" dirty="0"/>
              <a:t>How</a:t>
            </a:r>
            <a:r>
              <a:rPr sz="6700" spc="-545" dirty="0"/>
              <a:t> </a:t>
            </a:r>
            <a:r>
              <a:rPr sz="6700" spc="-265" dirty="0"/>
              <a:t>We</a:t>
            </a:r>
            <a:r>
              <a:rPr sz="6700" spc="-405" dirty="0"/>
              <a:t> </a:t>
            </a:r>
            <a:r>
              <a:rPr sz="6700" spc="-330" dirty="0"/>
              <a:t>Overcome </a:t>
            </a:r>
            <a:r>
              <a:rPr sz="6700" spc="-355" dirty="0"/>
              <a:t>the</a:t>
            </a:r>
            <a:r>
              <a:rPr sz="6700" spc="-409" dirty="0"/>
              <a:t> </a:t>
            </a:r>
            <a:r>
              <a:rPr sz="6700" spc="-420" dirty="0"/>
              <a:t>Challenges</a:t>
            </a:r>
            <a:endParaRPr sz="6700"/>
          </a:p>
        </p:txBody>
      </p:sp>
      <p:sp>
        <p:nvSpPr>
          <p:cNvPr id="14" name="object 14"/>
          <p:cNvSpPr/>
          <p:nvPr/>
        </p:nvSpPr>
        <p:spPr>
          <a:xfrm>
            <a:off x="16208202" y="8950877"/>
            <a:ext cx="236854" cy="263525"/>
          </a:xfrm>
          <a:custGeom>
            <a:avLst/>
            <a:gdLst/>
            <a:ahLst/>
            <a:cxnLst/>
            <a:rect l="l" t="t" r="r" b="b"/>
            <a:pathLst>
              <a:path w="236855" h="263525">
                <a:moveTo>
                  <a:pt x="93247" y="263350"/>
                </a:moveTo>
                <a:lnTo>
                  <a:pt x="49546" y="250531"/>
                </a:lnTo>
                <a:lnTo>
                  <a:pt x="16604" y="219014"/>
                </a:lnTo>
                <a:lnTo>
                  <a:pt x="0" y="175447"/>
                </a:lnTo>
                <a:lnTo>
                  <a:pt x="716" y="125486"/>
                </a:lnTo>
                <a:lnTo>
                  <a:pt x="19736" y="74787"/>
                </a:lnTo>
                <a:lnTo>
                  <a:pt x="54086" y="33013"/>
                </a:lnTo>
                <a:lnTo>
                  <a:pt x="97004" y="7408"/>
                </a:lnTo>
                <a:lnTo>
                  <a:pt x="143054" y="0"/>
                </a:lnTo>
                <a:lnTo>
                  <a:pt x="186802" y="12818"/>
                </a:lnTo>
                <a:lnTo>
                  <a:pt x="219744" y="44335"/>
                </a:lnTo>
                <a:lnTo>
                  <a:pt x="236348" y="87902"/>
                </a:lnTo>
                <a:lnTo>
                  <a:pt x="235631" y="137863"/>
                </a:lnTo>
                <a:lnTo>
                  <a:pt x="216611" y="188562"/>
                </a:lnTo>
                <a:lnTo>
                  <a:pt x="182123" y="230336"/>
                </a:lnTo>
                <a:lnTo>
                  <a:pt x="139221" y="255942"/>
                </a:lnTo>
                <a:lnTo>
                  <a:pt x="93247" y="263350"/>
                </a:lnTo>
                <a:close/>
              </a:path>
            </a:pathLst>
          </a:custGeom>
          <a:solidFill>
            <a:srgbClr val="E15C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443274" y="10252985"/>
            <a:ext cx="173355" cy="34290"/>
          </a:xfrm>
          <a:custGeom>
            <a:avLst/>
            <a:gdLst/>
            <a:ahLst/>
            <a:cxnLst/>
            <a:rect l="l" t="t" r="r" b="b"/>
            <a:pathLst>
              <a:path w="173355" h="34290">
                <a:moveTo>
                  <a:pt x="173159" y="34014"/>
                </a:moveTo>
                <a:lnTo>
                  <a:pt x="0" y="34014"/>
                </a:lnTo>
                <a:lnTo>
                  <a:pt x="30477" y="14366"/>
                </a:lnTo>
                <a:lnTo>
                  <a:pt x="68476" y="1517"/>
                </a:lnTo>
                <a:lnTo>
                  <a:pt x="106475" y="0"/>
                </a:lnTo>
                <a:lnTo>
                  <a:pt x="142509" y="10759"/>
                </a:lnTo>
                <a:lnTo>
                  <a:pt x="172575" y="33161"/>
                </a:lnTo>
                <a:lnTo>
                  <a:pt x="173159" y="34014"/>
                </a:lnTo>
                <a:close/>
              </a:path>
            </a:pathLst>
          </a:custGeom>
          <a:solidFill>
            <a:srgbClr val="D04A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331944" y="7856307"/>
            <a:ext cx="371475" cy="276225"/>
          </a:xfrm>
          <a:custGeom>
            <a:avLst/>
            <a:gdLst/>
            <a:ahLst/>
            <a:cxnLst/>
            <a:rect l="l" t="t" r="r" b="b"/>
            <a:pathLst>
              <a:path w="371475" h="276225">
                <a:moveTo>
                  <a:pt x="131075" y="276100"/>
                </a:moveTo>
                <a:lnTo>
                  <a:pt x="87833" y="269447"/>
                </a:lnTo>
                <a:lnTo>
                  <a:pt x="50952" y="254241"/>
                </a:lnTo>
                <a:lnTo>
                  <a:pt x="4751" y="200468"/>
                </a:lnTo>
                <a:lnTo>
                  <a:pt x="0" y="165408"/>
                </a:lnTo>
                <a:lnTo>
                  <a:pt x="8124" y="129610"/>
                </a:lnTo>
                <a:lnTo>
                  <a:pt x="27804" y="94850"/>
                </a:lnTo>
                <a:lnTo>
                  <a:pt x="57722" y="62904"/>
                </a:lnTo>
                <a:lnTo>
                  <a:pt x="96557" y="35549"/>
                </a:lnTo>
                <a:lnTo>
                  <a:pt x="142989" y="14560"/>
                </a:lnTo>
                <a:lnTo>
                  <a:pt x="192592" y="2412"/>
                </a:lnTo>
                <a:lnTo>
                  <a:pt x="240074" y="0"/>
                </a:lnTo>
                <a:lnTo>
                  <a:pt x="283316" y="6732"/>
                </a:lnTo>
                <a:lnTo>
                  <a:pt x="320198" y="22016"/>
                </a:lnTo>
                <a:lnTo>
                  <a:pt x="348599" y="45261"/>
                </a:lnTo>
                <a:lnTo>
                  <a:pt x="366399" y="75874"/>
                </a:lnTo>
                <a:lnTo>
                  <a:pt x="371286" y="110910"/>
                </a:lnTo>
                <a:lnTo>
                  <a:pt x="363244" y="146647"/>
                </a:lnTo>
                <a:lnTo>
                  <a:pt x="343591" y="181328"/>
                </a:lnTo>
                <a:lnTo>
                  <a:pt x="313646" y="213195"/>
                </a:lnTo>
                <a:lnTo>
                  <a:pt x="274729" y="240490"/>
                </a:lnTo>
                <a:lnTo>
                  <a:pt x="228160" y="261454"/>
                </a:lnTo>
                <a:lnTo>
                  <a:pt x="178557" y="273627"/>
                </a:lnTo>
                <a:lnTo>
                  <a:pt x="131075" y="276100"/>
                </a:lnTo>
                <a:close/>
              </a:path>
            </a:pathLst>
          </a:custGeom>
          <a:solidFill>
            <a:srgbClr val="C33B5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4358915" y="8060691"/>
            <a:ext cx="3447415" cy="2226310"/>
            <a:chOff x="14358915" y="8060691"/>
            <a:chExt cx="3447415" cy="2226310"/>
          </a:xfrm>
        </p:grpSpPr>
        <p:sp>
          <p:nvSpPr>
            <p:cNvPr id="18" name="object 18"/>
            <p:cNvSpPr/>
            <p:nvPr/>
          </p:nvSpPr>
          <p:spPr>
            <a:xfrm>
              <a:off x="14358912" y="8060702"/>
              <a:ext cx="3447415" cy="941069"/>
            </a:xfrm>
            <a:custGeom>
              <a:avLst/>
              <a:gdLst/>
              <a:ahLst/>
              <a:cxnLst/>
              <a:rect l="l" t="t" r="r" b="b"/>
              <a:pathLst>
                <a:path w="3447415" h="941070">
                  <a:moveTo>
                    <a:pt x="369049" y="255003"/>
                  </a:moveTo>
                  <a:lnTo>
                    <a:pt x="363664" y="209626"/>
                  </a:lnTo>
                  <a:lnTo>
                    <a:pt x="349275" y="163423"/>
                  </a:lnTo>
                  <a:lnTo>
                    <a:pt x="325793" y="118046"/>
                  </a:lnTo>
                  <a:lnTo>
                    <a:pt x="294741" y="77520"/>
                  </a:lnTo>
                  <a:lnTo>
                    <a:pt x="259080" y="44856"/>
                  </a:lnTo>
                  <a:lnTo>
                    <a:pt x="220332" y="20650"/>
                  </a:lnTo>
                  <a:lnTo>
                    <a:pt x="180073" y="5499"/>
                  </a:lnTo>
                  <a:lnTo>
                    <a:pt x="139839" y="0"/>
                  </a:lnTo>
                  <a:lnTo>
                    <a:pt x="101193" y="4749"/>
                  </a:lnTo>
                  <a:lnTo>
                    <a:pt x="65697" y="20345"/>
                  </a:lnTo>
                  <a:lnTo>
                    <a:pt x="36461" y="45961"/>
                  </a:lnTo>
                  <a:lnTo>
                    <a:pt x="15671" y="78994"/>
                  </a:lnTo>
                  <a:lnTo>
                    <a:pt x="3467" y="117792"/>
                  </a:lnTo>
                  <a:lnTo>
                    <a:pt x="0" y="160693"/>
                  </a:lnTo>
                  <a:lnTo>
                    <a:pt x="5410" y="206032"/>
                  </a:lnTo>
                  <a:lnTo>
                    <a:pt x="19837" y="252145"/>
                  </a:lnTo>
                  <a:lnTo>
                    <a:pt x="43421" y="297408"/>
                  </a:lnTo>
                  <a:lnTo>
                    <a:pt x="74345" y="338035"/>
                  </a:lnTo>
                  <a:lnTo>
                    <a:pt x="109931" y="370751"/>
                  </a:lnTo>
                  <a:lnTo>
                    <a:pt x="148615" y="394944"/>
                  </a:lnTo>
                  <a:lnTo>
                    <a:pt x="188849" y="410057"/>
                  </a:lnTo>
                  <a:lnTo>
                    <a:pt x="229057" y="415518"/>
                  </a:lnTo>
                  <a:lnTo>
                    <a:pt x="267690" y="410730"/>
                  </a:lnTo>
                  <a:lnTo>
                    <a:pt x="303187" y="395109"/>
                  </a:lnTo>
                  <a:lnTo>
                    <a:pt x="332536" y="369608"/>
                  </a:lnTo>
                  <a:lnTo>
                    <a:pt x="353377" y="336651"/>
                  </a:lnTo>
                  <a:lnTo>
                    <a:pt x="365582" y="297903"/>
                  </a:lnTo>
                  <a:lnTo>
                    <a:pt x="369049" y="255003"/>
                  </a:lnTo>
                  <a:close/>
                </a:path>
                <a:path w="3447415" h="941070">
                  <a:moveTo>
                    <a:pt x="3447300" y="574459"/>
                  </a:moveTo>
                  <a:lnTo>
                    <a:pt x="3436340" y="500519"/>
                  </a:lnTo>
                  <a:lnTo>
                    <a:pt x="3404920" y="431685"/>
                  </a:lnTo>
                  <a:lnTo>
                    <a:pt x="3382200" y="399630"/>
                  </a:lnTo>
                  <a:lnTo>
                    <a:pt x="3355187" y="369404"/>
                  </a:lnTo>
                  <a:lnTo>
                    <a:pt x="3324136" y="341185"/>
                  </a:lnTo>
                  <a:lnTo>
                    <a:pt x="3289325" y="315163"/>
                  </a:lnTo>
                  <a:lnTo>
                    <a:pt x="3251009" y="291515"/>
                  </a:lnTo>
                  <a:lnTo>
                    <a:pt x="3209480" y="270421"/>
                  </a:lnTo>
                  <a:lnTo>
                    <a:pt x="3165005" y="252082"/>
                  </a:lnTo>
                  <a:lnTo>
                    <a:pt x="3117837" y="236651"/>
                  </a:lnTo>
                  <a:lnTo>
                    <a:pt x="3068256" y="224345"/>
                  </a:lnTo>
                  <a:lnTo>
                    <a:pt x="3016542" y="215315"/>
                  </a:lnTo>
                  <a:lnTo>
                    <a:pt x="2962960" y="209778"/>
                  </a:lnTo>
                  <a:lnTo>
                    <a:pt x="2907779" y="207886"/>
                  </a:lnTo>
                  <a:lnTo>
                    <a:pt x="2852648" y="209778"/>
                  </a:lnTo>
                  <a:lnTo>
                    <a:pt x="2799118" y="215328"/>
                  </a:lnTo>
                  <a:lnTo>
                    <a:pt x="2747441" y="224358"/>
                  </a:lnTo>
                  <a:lnTo>
                    <a:pt x="2697899" y="236677"/>
                  </a:lnTo>
                  <a:lnTo>
                    <a:pt x="2650769" y="252095"/>
                  </a:lnTo>
                  <a:lnTo>
                    <a:pt x="2606319" y="270446"/>
                  </a:lnTo>
                  <a:lnTo>
                    <a:pt x="2564803" y="291541"/>
                  </a:lnTo>
                  <a:lnTo>
                    <a:pt x="2526512" y="315188"/>
                  </a:lnTo>
                  <a:lnTo>
                    <a:pt x="2491714" y="341210"/>
                  </a:lnTo>
                  <a:lnTo>
                    <a:pt x="2460675" y="369430"/>
                  </a:lnTo>
                  <a:lnTo>
                    <a:pt x="2433663" y="399656"/>
                  </a:lnTo>
                  <a:lnTo>
                    <a:pt x="2410955" y="431698"/>
                  </a:lnTo>
                  <a:lnTo>
                    <a:pt x="2392819" y="465391"/>
                  </a:lnTo>
                  <a:lnTo>
                    <a:pt x="2371369" y="536956"/>
                  </a:lnTo>
                  <a:lnTo>
                    <a:pt x="2368575" y="574459"/>
                  </a:lnTo>
                  <a:lnTo>
                    <a:pt x="2372372" y="618248"/>
                  </a:lnTo>
                  <a:lnTo>
                    <a:pt x="2383485" y="660450"/>
                  </a:lnTo>
                  <a:lnTo>
                    <a:pt x="2401468" y="700798"/>
                  </a:lnTo>
                  <a:lnTo>
                    <a:pt x="2425903" y="739063"/>
                  </a:lnTo>
                  <a:lnTo>
                    <a:pt x="2452395" y="770813"/>
                  </a:lnTo>
                  <a:lnTo>
                    <a:pt x="2483231" y="800481"/>
                  </a:lnTo>
                  <a:lnTo>
                    <a:pt x="2518118" y="827862"/>
                  </a:lnTo>
                  <a:lnTo>
                    <a:pt x="2556764" y="852766"/>
                  </a:lnTo>
                  <a:lnTo>
                    <a:pt x="2598877" y="875004"/>
                  </a:lnTo>
                  <a:lnTo>
                    <a:pt x="2644165" y="894346"/>
                  </a:lnTo>
                  <a:lnTo>
                    <a:pt x="2692323" y="910628"/>
                  </a:lnTo>
                  <a:lnTo>
                    <a:pt x="2743047" y="923632"/>
                  </a:lnTo>
                  <a:lnTo>
                    <a:pt x="2796070" y="933170"/>
                  </a:lnTo>
                  <a:lnTo>
                    <a:pt x="2851073" y="939038"/>
                  </a:lnTo>
                  <a:lnTo>
                    <a:pt x="2907779" y="941031"/>
                  </a:lnTo>
                  <a:lnTo>
                    <a:pt x="2966555" y="938885"/>
                  </a:lnTo>
                  <a:lnTo>
                    <a:pt x="3023501" y="932586"/>
                  </a:lnTo>
                  <a:lnTo>
                    <a:pt x="3078276" y="922362"/>
                  </a:lnTo>
                  <a:lnTo>
                    <a:pt x="3130550" y="908431"/>
                  </a:lnTo>
                  <a:lnTo>
                    <a:pt x="3180016" y="891019"/>
                  </a:lnTo>
                  <a:lnTo>
                    <a:pt x="3226320" y="870343"/>
                  </a:lnTo>
                  <a:lnTo>
                    <a:pt x="3269145" y="846645"/>
                  </a:lnTo>
                  <a:lnTo>
                    <a:pt x="3308172" y="820127"/>
                  </a:lnTo>
                  <a:lnTo>
                    <a:pt x="3343071" y="791019"/>
                  </a:lnTo>
                  <a:lnTo>
                    <a:pt x="3373501" y="759548"/>
                  </a:lnTo>
                  <a:lnTo>
                    <a:pt x="3399142" y="725944"/>
                  </a:lnTo>
                  <a:lnTo>
                    <a:pt x="3419792" y="690384"/>
                  </a:lnTo>
                  <a:lnTo>
                    <a:pt x="3434892" y="653148"/>
                  </a:lnTo>
                  <a:lnTo>
                    <a:pt x="3444151" y="614451"/>
                  </a:lnTo>
                  <a:lnTo>
                    <a:pt x="3447300" y="574459"/>
                  </a:lnTo>
                  <a:close/>
                </a:path>
              </a:pathLst>
            </a:custGeom>
            <a:solidFill>
              <a:srgbClr val="C33B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607136" y="8288638"/>
              <a:ext cx="1343660" cy="1638300"/>
            </a:xfrm>
            <a:custGeom>
              <a:avLst/>
              <a:gdLst/>
              <a:ahLst/>
              <a:cxnLst/>
              <a:rect l="l" t="t" r="r" b="b"/>
              <a:pathLst>
                <a:path w="1343659" h="1638300">
                  <a:moveTo>
                    <a:pt x="443016" y="1637790"/>
                  </a:moveTo>
                  <a:lnTo>
                    <a:pt x="392749" y="1638044"/>
                  </a:lnTo>
                  <a:lnTo>
                    <a:pt x="343909" y="1632826"/>
                  </a:lnTo>
                  <a:lnTo>
                    <a:pt x="296763" y="1621998"/>
                  </a:lnTo>
                  <a:lnTo>
                    <a:pt x="251574" y="1605422"/>
                  </a:lnTo>
                  <a:lnTo>
                    <a:pt x="208608" y="1582960"/>
                  </a:lnTo>
                  <a:lnTo>
                    <a:pt x="149034" y="1537983"/>
                  </a:lnTo>
                  <a:lnTo>
                    <a:pt x="99420" y="1482177"/>
                  </a:lnTo>
                  <a:lnTo>
                    <a:pt x="59788" y="1416657"/>
                  </a:lnTo>
                  <a:lnTo>
                    <a:pt x="43721" y="1380605"/>
                  </a:lnTo>
                  <a:lnTo>
                    <a:pt x="30159" y="1342544"/>
                  </a:lnTo>
                  <a:lnTo>
                    <a:pt x="19103" y="1302614"/>
                  </a:lnTo>
                  <a:lnTo>
                    <a:pt x="10556" y="1260954"/>
                  </a:lnTo>
                  <a:lnTo>
                    <a:pt x="4522" y="1217705"/>
                  </a:lnTo>
                  <a:lnTo>
                    <a:pt x="1002" y="1173006"/>
                  </a:lnTo>
                  <a:lnTo>
                    <a:pt x="0" y="1126997"/>
                  </a:lnTo>
                  <a:lnTo>
                    <a:pt x="1518" y="1079818"/>
                  </a:lnTo>
                  <a:lnTo>
                    <a:pt x="5559" y="1031608"/>
                  </a:lnTo>
                  <a:lnTo>
                    <a:pt x="12126" y="982507"/>
                  </a:lnTo>
                  <a:lnTo>
                    <a:pt x="21221" y="932655"/>
                  </a:lnTo>
                  <a:lnTo>
                    <a:pt x="32849" y="882192"/>
                  </a:lnTo>
                  <a:lnTo>
                    <a:pt x="47010" y="831258"/>
                  </a:lnTo>
                  <a:lnTo>
                    <a:pt x="63708" y="779992"/>
                  </a:lnTo>
                  <a:lnTo>
                    <a:pt x="82946" y="728533"/>
                  </a:lnTo>
                  <a:lnTo>
                    <a:pt x="104726" y="677023"/>
                  </a:lnTo>
                  <a:lnTo>
                    <a:pt x="129052" y="625600"/>
                  </a:lnTo>
                  <a:lnTo>
                    <a:pt x="155926" y="574404"/>
                  </a:lnTo>
                  <a:lnTo>
                    <a:pt x="185350" y="523575"/>
                  </a:lnTo>
                  <a:lnTo>
                    <a:pt x="216843" y="473968"/>
                  </a:lnTo>
                  <a:lnTo>
                    <a:pt x="249836" y="426461"/>
                  </a:lnTo>
                  <a:lnTo>
                    <a:pt x="284206" y="381117"/>
                  </a:lnTo>
                  <a:lnTo>
                    <a:pt x="319826" y="337998"/>
                  </a:lnTo>
                  <a:lnTo>
                    <a:pt x="356572" y="297164"/>
                  </a:lnTo>
                  <a:lnTo>
                    <a:pt x="394318" y="258678"/>
                  </a:lnTo>
                  <a:lnTo>
                    <a:pt x="432940" y="222601"/>
                  </a:lnTo>
                  <a:lnTo>
                    <a:pt x="472313" y="188995"/>
                  </a:lnTo>
                  <a:lnTo>
                    <a:pt x="512311" y="157921"/>
                  </a:lnTo>
                  <a:lnTo>
                    <a:pt x="552810" y="129441"/>
                  </a:lnTo>
                  <a:lnTo>
                    <a:pt x="593684" y="103616"/>
                  </a:lnTo>
                  <a:lnTo>
                    <a:pt x="634809" y="80509"/>
                  </a:lnTo>
                  <a:lnTo>
                    <a:pt x="676059" y="60179"/>
                  </a:lnTo>
                  <a:lnTo>
                    <a:pt x="717310" y="42690"/>
                  </a:lnTo>
                  <a:lnTo>
                    <a:pt x="758436" y="28102"/>
                  </a:lnTo>
                  <a:lnTo>
                    <a:pt x="799312" y="16478"/>
                  </a:lnTo>
                  <a:lnTo>
                    <a:pt x="839813" y="7878"/>
                  </a:lnTo>
                  <a:lnTo>
                    <a:pt x="879815" y="2365"/>
                  </a:lnTo>
                  <a:lnTo>
                    <a:pt x="919192" y="0"/>
                  </a:lnTo>
                  <a:lnTo>
                    <a:pt x="957819" y="844"/>
                  </a:lnTo>
                  <a:lnTo>
                    <a:pt x="1032323" y="12406"/>
                  </a:lnTo>
                  <a:lnTo>
                    <a:pt x="1102328" y="37546"/>
                  </a:lnTo>
                  <a:lnTo>
                    <a:pt x="1173950" y="82375"/>
                  </a:lnTo>
                  <a:lnTo>
                    <a:pt x="1208632" y="113850"/>
                  </a:lnTo>
                  <a:lnTo>
                    <a:pt x="1239367" y="149507"/>
                  </a:lnTo>
                  <a:lnTo>
                    <a:pt x="1266147" y="189068"/>
                  </a:lnTo>
                  <a:lnTo>
                    <a:pt x="1288965" y="232253"/>
                  </a:lnTo>
                  <a:lnTo>
                    <a:pt x="1307812" y="278782"/>
                  </a:lnTo>
                  <a:lnTo>
                    <a:pt x="1322682" y="328376"/>
                  </a:lnTo>
                  <a:lnTo>
                    <a:pt x="1333565" y="380756"/>
                  </a:lnTo>
                  <a:lnTo>
                    <a:pt x="1340455" y="435642"/>
                  </a:lnTo>
                  <a:lnTo>
                    <a:pt x="1343343" y="492755"/>
                  </a:lnTo>
                  <a:lnTo>
                    <a:pt x="1343023" y="537260"/>
                  </a:lnTo>
                  <a:lnTo>
                    <a:pt x="1340397" y="582772"/>
                  </a:lnTo>
                  <a:lnTo>
                    <a:pt x="1335463" y="629168"/>
                  </a:lnTo>
                  <a:lnTo>
                    <a:pt x="1328218" y="676324"/>
                  </a:lnTo>
                  <a:lnTo>
                    <a:pt x="1318660" y="724120"/>
                  </a:lnTo>
                  <a:lnTo>
                    <a:pt x="1306786" y="772431"/>
                  </a:lnTo>
                  <a:lnTo>
                    <a:pt x="1292593" y="821135"/>
                  </a:lnTo>
                  <a:lnTo>
                    <a:pt x="1276078" y="870110"/>
                  </a:lnTo>
                  <a:lnTo>
                    <a:pt x="1257240" y="919232"/>
                  </a:lnTo>
                  <a:lnTo>
                    <a:pt x="1236074" y="968379"/>
                  </a:lnTo>
                  <a:lnTo>
                    <a:pt x="1212578" y="1017429"/>
                  </a:lnTo>
                  <a:lnTo>
                    <a:pt x="1186751" y="1066259"/>
                  </a:lnTo>
                  <a:lnTo>
                    <a:pt x="1158588" y="1114745"/>
                  </a:lnTo>
                  <a:lnTo>
                    <a:pt x="1127824" y="1163210"/>
                  </a:lnTo>
                  <a:lnTo>
                    <a:pt x="1095623" y="1209675"/>
                  </a:lnTo>
                  <a:lnTo>
                    <a:pt x="1062102" y="1254084"/>
                  </a:lnTo>
                  <a:lnTo>
                    <a:pt x="1027379" y="1296379"/>
                  </a:lnTo>
                  <a:lnTo>
                    <a:pt x="991571" y="1336502"/>
                  </a:lnTo>
                  <a:lnTo>
                    <a:pt x="954797" y="1374396"/>
                  </a:lnTo>
                  <a:lnTo>
                    <a:pt x="917174" y="1410002"/>
                  </a:lnTo>
                  <a:lnTo>
                    <a:pt x="878819" y="1443263"/>
                  </a:lnTo>
                  <a:lnTo>
                    <a:pt x="839851" y="1474121"/>
                  </a:lnTo>
                  <a:lnTo>
                    <a:pt x="800386" y="1502519"/>
                  </a:lnTo>
                  <a:lnTo>
                    <a:pt x="760543" y="1528399"/>
                  </a:lnTo>
                  <a:lnTo>
                    <a:pt x="720439" y="1551703"/>
                  </a:lnTo>
                  <a:lnTo>
                    <a:pt x="680192" y="1572374"/>
                  </a:lnTo>
                  <a:lnTo>
                    <a:pt x="639919" y="1590353"/>
                  </a:lnTo>
                  <a:lnTo>
                    <a:pt x="599738" y="1605583"/>
                  </a:lnTo>
                  <a:lnTo>
                    <a:pt x="546776" y="1621422"/>
                  </a:lnTo>
                  <a:lnTo>
                    <a:pt x="494447" y="1632203"/>
                  </a:lnTo>
                  <a:lnTo>
                    <a:pt x="443016" y="1637790"/>
                  </a:lnTo>
                  <a:close/>
                </a:path>
              </a:pathLst>
            </a:custGeom>
            <a:solidFill>
              <a:srgbClr val="B62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714907" y="9455845"/>
              <a:ext cx="2054225" cy="831215"/>
            </a:xfrm>
            <a:custGeom>
              <a:avLst/>
              <a:gdLst/>
              <a:ahLst/>
              <a:cxnLst/>
              <a:rect l="l" t="t" r="r" b="b"/>
              <a:pathLst>
                <a:path w="2054225" h="831215">
                  <a:moveTo>
                    <a:pt x="2053678" y="831154"/>
                  </a:moveTo>
                  <a:lnTo>
                    <a:pt x="0" y="831154"/>
                  </a:lnTo>
                  <a:lnTo>
                    <a:pt x="3022" y="816369"/>
                  </a:lnTo>
                  <a:lnTo>
                    <a:pt x="14289" y="771507"/>
                  </a:lnTo>
                  <a:lnTo>
                    <a:pt x="27454" y="727432"/>
                  </a:lnTo>
                  <a:lnTo>
                    <a:pt x="42470" y="684190"/>
                  </a:lnTo>
                  <a:lnTo>
                    <a:pt x="59293" y="641827"/>
                  </a:lnTo>
                  <a:lnTo>
                    <a:pt x="77874" y="600390"/>
                  </a:lnTo>
                  <a:lnTo>
                    <a:pt x="98169" y="559926"/>
                  </a:lnTo>
                  <a:lnTo>
                    <a:pt x="120130" y="520481"/>
                  </a:lnTo>
                  <a:lnTo>
                    <a:pt x="143711" y="482100"/>
                  </a:lnTo>
                  <a:lnTo>
                    <a:pt x="168866" y="444831"/>
                  </a:lnTo>
                  <a:lnTo>
                    <a:pt x="195549" y="408720"/>
                  </a:lnTo>
                  <a:lnTo>
                    <a:pt x="223713" y="373813"/>
                  </a:lnTo>
                  <a:lnTo>
                    <a:pt x="253312" y="340157"/>
                  </a:lnTo>
                  <a:lnTo>
                    <a:pt x="284299" y="307798"/>
                  </a:lnTo>
                  <a:lnTo>
                    <a:pt x="316628" y="276782"/>
                  </a:lnTo>
                  <a:lnTo>
                    <a:pt x="350253" y="247156"/>
                  </a:lnTo>
                  <a:lnTo>
                    <a:pt x="385128" y="218966"/>
                  </a:lnTo>
                  <a:lnTo>
                    <a:pt x="421206" y="192259"/>
                  </a:lnTo>
                  <a:lnTo>
                    <a:pt x="458440" y="167081"/>
                  </a:lnTo>
                  <a:lnTo>
                    <a:pt x="496785" y="143478"/>
                  </a:lnTo>
                  <a:lnTo>
                    <a:pt x="536195" y="121497"/>
                  </a:lnTo>
                  <a:lnTo>
                    <a:pt x="576622" y="101183"/>
                  </a:lnTo>
                  <a:lnTo>
                    <a:pt x="618020" y="82585"/>
                  </a:lnTo>
                  <a:lnTo>
                    <a:pt x="660344" y="65747"/>
                  </a:lnTo>
                  <a:lnTo>
                    <a:pt x="703546" y="50716"/>
                  </a:lnTo>
                  <a:lnTo>
                    <a:pt x="747581" y="37539"/>
                  </a:lnTo>
                  <a:lnTo>
                    <a:pt x="792402" y="26262"/>
                  </a:lnTo>
                  <a:lnTo>
                    <a:pt x="837962" y="16931"/>
                  </a:lnTo>
                  <a:lnTo>
                    <a:pt x="884216" y="9593"/>
                  </a:lnTo>
                  <a:lnTo>
                    <a:pt x="931117" y="4294"/>
                  </a:lnTo>
                  <a:lnTo>
                    <a:pt x="978619" y="1081"/>
                  </a:lnTo>
                  <a:lnTo>
                    <a:pt x="1026675" y="0"/>
                  </a:lnTo>
                  <a:lnTo>
                    <a:pt x="1074758" y="1081"/>
                  </a:lnTo>
                  <a:lnTo>
                    <a:pt x="1122285" y="4294"/>
                  </a:lnTo>
                  <a:lnTo>
                    <a:pt x="1169210" y="9593"/>
                  </a:lnTo>
                  <a:lnTo>
                    <a:pt x="1215486" y="16931"/>
                  </a:lnTo>
                  <a:lnTo>
                    <a:pt x="1261067" y="26262"/>
                  </a:lnTo>
                  <a:lnTo>
                    <a:pt x="1305908" y="37539"/>
                  </a:lnTo>
                  <a:lnTo>
                    <a:pt x="1349961" y="50716"/>
                  </a:lnTo>
                  <a:lnTo>
                    <a:pt x="1393180" y="65747"/>
                  </a:lnTo>
                  <a:lnTo>
                    <a:pt x="1435520" y="82585"/>
                  </a:lnTo>
                  <a:lnTo>
                    <a:pt x="1476933" y="101183"/>
                  </a:lnTo>
                  <a:lnTo>
                    <a:pt x="1517374" y="121497"/>
                  </a:lnTo>
                  <a:lnTo>
                    <a:pt x="1556796" y="143478"/>
                  </a:lnTo>
                  <a:lnTo>
                    <a:pt x="1595152" y="167081"/>
                  </a:lnTo>
                  <a:lnTo>
                    <a:pt x="1632398" y="192259"/>
                  </a:lnTo>
                  <a:lnTo>
                    <a:pt x="1668485" y="218966"/>
                  </a:lnTo>
                  <a:lnTo>
                    <a:pt x="1703369" y="247156"/>
                  </a:lnTo>
                  <a:lnTo>
                    <a:pt x="1737002" y="276782"/>
                  </a:lnTo>
                  <a:lnTo>
                    <a:pt x="1769339" y="307798"/>
                  </a:lnTo>
                  <a:lnTo>
                    <a:pt x="1800332" y="340157"/>
                  </a:lnTo>
                  <a:lnTo>
                    <a:pt x="1829937" y="373813"/>
                  </a:lnTo>
                  <a:lnTo>
                    <a:pt x="1858106" y="408720"/>
                  </a:lnTo>
                  <a:lnTo>
                    <a:pt x="1884793" y="444831"/>
                  </a:lnTo>
                  <a:lnTo>
                    <a:pt x="1909952" y="482100"/>
                  </a:lnTo>
                  <a:lnTo>
                    <a:pt x="1933536" y="520481"/>
                  </a:lnTo>
                  <a:lnTo>
                    <a:pt x="1955500" y="559926"/>
                  </a:lnTo>
                  <a:lnTo>
                    <a:pt x="1975797" y="600390"/>
                  </a:lnTo>
                  <a:lnTo>
                    <a:pt x="1994381" y="641827"/>
                  </a:lnTo>
                  <a:lnTo>
                    <a:pt x="2011205" y="684190"/>
                  </a:lnTo>
                  <a:lnTo>
                    <a:pt x="2026223" y="727432"/>
                  </a:lnTo>
                  <a:lnTo>
                    <a:pt x="2039388" y="771507"/>
                  </a:lnTo>
                  <a:lnTo>
                    <a:pt x="2050656" y="816369"/>
                  </a:lnTo>
                  <a:lnTo>
                    <a:pt x="2053678" y="831154"/>
                  </a:lnTo>
                  <a:close/>
                </a:path>
              </a:pathLst>
            </a:custGeom>
            <a:solidFill>
              <a:srgbClr val="AC1F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061335" y="8458004"/>
              <a:ext cx="426084" cy="142875"/>
            </a:xfrm>
            <a:custGeom>
              <a:avLst/>
              <a:gdLst/>
              <a:ahLst/>
              <a:cxnLst/>
              <a:rect l="l" t="t" r="r" b="b"/>
              <a:pathLst>
                <a:path w="426084" h="142875">
                  <a:moveTo>
                    <a:pt x="177644" y="142628"/>
                  </a:moveTo>
                  <a:lnTo>
                    <a:pt x="101449" y="135566"/>
                  </a:lnTo>
                  <a:lnTo>
                    <a:pt x="62093" y="126734"/>
                  </a:lnTo>
                  <a:lnTo>
                    <a:pt x="21913" y="114365"/>
                  </a:lnTo>
                  <a:lnTo>
                    <a:pt x="0" y="85515"/>
                  </a:lnTo>
                  <a:lnTo>
                    <a:pt x="1767" y="72625"/>
                  </a:lnTo>
                  <a:lnTo>
                    <a:pt x="8393" y="61429"/>
                  </a:lnTo>
                  <a:lnTo>
                    <a:pt x="18441" y="53899"/>
                  </a:lnTo>
                  <a:lnTo>
                    <a:pt x="30577" y="50691"/>
                  </a:lnTo>
                  <a:lnTo>
                    <a:pt x="43468" y="52461"/>
                  </a:lnTo>
                  <a:lnTo>
                    <a:pt x="96677" y="67795"/>
                  </a:lnTo>
                  <a:lnTo>
                    <a:pt x="147656" y="75873"/>
                  </a:lnTo>
                  <a:lnTo>
                    <a:pt x="196508" y="76680"/>
                  </a:lnTo>
                  <a:lnTo>
                    <a:pt x="243336" y="70197"/>
                  </a:lnTo>
                  <a:lnTo>
                    <a:pt x="288245" y="56410"/>
                  </a:lnTo>
                  <a:lnTo>
                    <a:pt x="331337" y="35300"/>
                  </a:lnTo>
                  <a:lnTo>
                    <a:pt x="372718" y="6852"/>
                  </a:lnTo>
                  <a:lnTo>
                    <a:pt x="384359" y="951"/>
                  </a:lnTo>
                  <a:lnTo>
                    <a:pt x="424610" y="23835"/>
                  </a:lnTo>
                  <a:lnTo>
                    <a:pt x="425569" y="36366"/>
                  </a:lnTo>
                  <a:lnTo>
                    <a:pt x="421755" y="48337"/>
                  </a:lnTo>
                  <a:lnTo>
                    <a:pt x="369822" y="88606"/>
                  </a:lnTo>
                  <a:lnTo>
                    <a:pt x="324449" y="112224"/>
                  </a:lnTo>
                  <a:lnTo>
                    <a:pt x="277264" y="129108"/>
                  </a:lnTo>
                  <a:lnTo>
                    <a:pt x="228314" y="139246"/>
                  </a:lnTo>
                  <a:lnTo>
                    <a:pt x="177644" y="142628"/>
                  </a:lnTo>
                  <a:close/>
                </a:path>
              </a:pathLst>
            </a:custGeom>
            <a:solidFill>
              <a:srgbClr val="E15C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925145" y="8639224"/>
              <a:ext cx="483234" cy="644525"/>
            </a:xfrm>
            <a:custGeom>
              <a:avLst/>
              <a:gdLst/>
              <a:ahLst/>
              <a:cxnLst/>
              <a:rect l="l" t="t" r="r" b="b"/>
              <a:pathLst>
                <a:path w="483234" h="644525">
                  <a:moveTo>
                    <a:pt x="36830" y="644155"/>
                  </a:moveTo>
                  <a:lnTo>
                    <a:pt x="32768" y="644155"/>
                  </a:lnTo>
                  <a:lnTo>
                    <a:pt x="23269" y="642741"/>
                  </a:lnTo>
                  <a:lnTo>
                    <a:pt x="14633" y="638671"/>
                  </a:lnTo>
                  <a:lnTo>
                    <a:pt x="7464" y="632204"/>
                  </a:lnTo>
                  <a:lnTo>
                    <a:pt x="2369" y="623597"/>
                  </a:lnTo>
                  <a:lnTo>
                    <a:pt x="0" y="610785"/>
                  </a:lnTo>
                  <a:lnTo>
                    <a:pt x="2627" y="598493"/>
                  </a:lnTo>
                  <a:lnTo>
                    <a:pt x="9670" y="588089"/>
                  </a:lnTo>
                  <a:lnTo>
                    <a:pt x="20549" y="580939"/>
                  </a:lnTo>
                  <a:lnTo>
                    <a:pt x="67393" y="560384"/>
                  </a:lnTo>
                  <a:lnTo>
                    <a:pt x="111272" y="537594"/>
                  </a:lnTo>
                  <a:lnTo>
                    <a:pt x="152197" y="512549"/>
                  </a:lnTo>
                  <a:lnTo>
                    <a:pt x="190184" y="485233"/>
                  </a:lnTo>
                  <a:lnTo>
                    <a:pt x="225244" y="455626"/>
                  </a:lnTo>
                  <a:lnTo>
                    <a:pt x="257391" y="423710"/>
                  </a:lnTo>
                  <a:lnTo>
                    <a:pt x="286639" y="389468"/>
                  </a:lnTo>
                  <a:lnTo>
                    <a:pt x="313000" y="352880"/>
                  </a:lnTo>
                  <a:lnTo>
                    <a:pt x="336487" y="313930"/>
                  </a:lnTo>
                  <a:lnTo>
                    <a:pt x="357114" y="272598"/>
                  </a:lnTo>
                  <a:lnTo>
                    <a:pt x="374894" y="228865"/>
                  </a:lnTo>
                  <a:lnTo>
                    <a:pt x="389840" y="182715"/>
                  </a:lnTo>
                  <a:lnTo>
                    <a:pt x="401965" y="134129"/>
                  </a:lnTo>
                  <a:lnTo>
                    <a:pt x="411282" y="83088"/>
                  </a:lnTo>
                  <a:lnTo>
                    <a:pt x="417805" y="29574"/>
                  </a:lnTo>
                  <a:lnTo>
                    <a:pt x="421509" y="17110"/>
                  </a:lnTo>
                  <a:lnTo>
                    <a:pt x="429381" y="7397"/>
                  </a:lnTo>
                  <a:lnTo>
                    <a:pt x="440391" y="1379"/>
                  </a:lnTo>
                  <a:lnTo>
                    <a:pt x="453511" y="0"/>
                  </a:lnTo>
                  <a:lnTo>
                    <a:pt x="465964" y="3767"/>
                  </a:lnTo>
                  <a:lnTo>
                    <a:pt x="475668" y="11746"/>
                  </a:lnTo>
                  <a:lnTo>
                    <a:pt x="481680" y="22786"/>
                  </a:lnTo>
                  <a:lnTo>
                    <a:pt x="483059" y="35739"/>
                  </a:lnTo>
                  <a:lnTo>
                    <a:pt x="476444" y="90229"/>
                  </a:lnTo>
                  <a:lnTo>
                    <a:pt x="467033" y="142543"/>
                  </a:lnTo>
                  <a:lnTo>
                    <a:pt x="454831" y="192673"/>
                  </a:lnTo>
                  <a:lnTo>
                    <a:pt x="439845" y="240611"/>
                  </a:lnTo>
                  <a:lnTo>
                    <a:pt x="422080" y="286347"/>
                  </a:lnTo>
                  <a:lnTo>
                    <a:pt x="401543" y="329873"/>
                  </a:lnTo>
                  <a:lnTo>
                    <a:pt x="378239" y="371182"/>
                  </a:lnTo>
                  <a:lnTo>
                    <a:pt x="352174" y="410265"/>
                  </a:lnTo>
                  <a:lnTo>
                    <a:pt x="323355" y="447114"/>
                  </a:lnTo>
                  <a:lnTo>
                    <a:pt x="291787" y="481719"/>
                  </a:lnTo>
                  <a:lnTo>
                    <a:pt x="257476" y="514074"/>
                  </a:lnTo>
                  <a:lnTo>
                    <a:pt x="220428" y="544170"/>
                  </a:lnTo>
                  <a:lnTo>
                    <a:pt x="180649" y="571998"/>
                  </a:lnTo>
                  <a:lnTo>
                    <a:pt x="138146" y="597551"/>
                  </a:lnTo>
                  <a:lnTo>
                    <a:pt x="92923" y="620819"/>
                  </a:lnTo>
                  <a:lnTo>
                    <a:pt x="40990" y="643368"/>
                  </a:lnTo>
                  <a:lnTo>
                    <a:pt x="36830" y="644155"/>
                  </a:lnTo>
                  <a:close/>
                </a:path>
              </a:pathLst>
            </a:custGeom>
            <a:solidFill>
              <a:srgbClr val="D646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275" y="3906397"/>
            <a:ext cx="171450" cy="17144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2275" y="4563622"/>
            <a:ext cx="171450" cy="17144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2275" y="5220847"/>
            <a:ext cx="171450" cy="17144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2275" y="5878072"/>
            <a:ext cx="171450" cy="17144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2275" y="6535297"/>
            <a:ext cx="171450" cy="17144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2750" y="7173472"/>
            <a:ext cx="161925" cy="161924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210575" y="3578553"/>
            <a:ext cx="14090015" cy="4585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655" marR="382905">
              <a:lnSpc>
                <a:spcPct val="116599"/>
              </a:lnSpc>
              <a:spcBef>
                <a:spcPts val="95"/>
              </a:spcBef>
            </a:pPr>
            <a:r>
              <a:rPr sz="3700" spc="-30" dirty="0">
                <a:solidFill>
                  <a:srgbClr val="FFFFFF"/>
                </a:solidFill>
                <a:latin typeface="Verdana"/>
                <a:cs typeface="Verdana"/>
              </a:rPr>
              <a:t>Used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0" dirty="0">
                <a:solidFill>
                  <a:srgbClr val="FFFFFF"/>
                </a:solidFill>
                <a:latin typeface="Verdana"/>
                <a:cs typeface="Verdana"/>
              </a:rPr>
              <a:t>structured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50" dirty="0">
                <a:solidFill>
                  <a:srgbClr val="FFFFFF"/>
                </a:solidFill>
                <a:latin typeface="Verdana"/>
                <a:cs typeface="Verdana"/>
              </a:rPr>
              <a:t>forms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5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45" dirty="0">
                <a:solidFill>
                  <a:srgbClr val="FFFFFF"/>
                </a:solidFill>
                <a:latin typeface="Verdana"/>
                <a:cs typeface="Verdana"/>
              </a:rPr>
              <a:t>validations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Verdana"/>
                <a:cs typeface="Verdana"/>
              </a:rPr>
              <a:t>reduce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6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Verdana"/>
                <a:cs typeface="Verdana"/>
              </a:rPr>
              <a:t>errors </a:t>
            </a:r>
            <a:r>
              <a:rPr sz="3700" spc="-95" dirty="0">
                <a:solidFill>
                  <a:srgbClr val="FFFFFF"/>
                </a:solidFill>
                <a:latin typeface="Verdana"/>
                <a:cs typeface="Verdana"/>
              </a:rPr>
              <a:t>Implemented</a:t>
            </a:r>
            <a:r>
              <a:rPr sz="3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40" dirty="0">
                <a:solidFill>
                  <a:srgbClr val="FFFFFF"/>
                </a:solidFill>
                <a:latin typeface="Verdana"/>
                <a:cs typeface="Verdana"/>
              </a:rPr>
              <a:t>centralized</a:t>
            </a:r>
            <a:r>
              <a:rPr sz="3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6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3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30" dirty="0">
                <a:solidFill>
                  <a:srgbClr val="FFFFFF"/>
                </a:solidFill>
                <a:latin typeface="Verdana"/>
                <a:cs typeface="Verdana"/>
              </a:rPr>
              <a:t>management</a:t>
            </a:r>
            <a:r>
              <a:rPr sz="37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3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Verdana"/>
                <a:cs typeface="Verdana"/>
              </a:rPr>
              <a:t>consistency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Added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Verdana"/>
                <a:cs typeface="Verdana"/>
              </a:rPr>
              <a:t>low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50" dirty="0">
                <a:solidFill>
                  <a:srgbClr val="FFFFFF"/>
                </a:solidFill>
                <a:latin typeface="Verdana"/>
                <a:cs typeface="Verdana"/>
              </a:rPr>
              <a:t>stock</a:t>
            </a:r>
            <a:r>
              <a:rPr sz="37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0" dirty="0">
                <a:solidFill>
                  <a:srgbClr val="FFFFFF"/>
                </a:solidFill>
                <a:latin typeface="Verdana"/>
                <a:cs typeface="Verdana"/>
              </a:rPr>
              <a:t>indicators</a:t>
            </a:r>
            <a:r>
              <a:rPr sz="37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40" dirty="0">
                <a:solidFill>
                  <a:srgbClr val="FFFFFF"/>
                </a:solidFill>
                <a:latin typeface="Verdana"/>
                <a:cs typeface="Verdana"/>
              </a:rPr>
              <a:t>monitor</a:t>
            </a:r>
            <a:r>
              <a:rPr sz="37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critical</a:t>
            </a:r>
            <a:r>
              <a:rPr sz="37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55" dirty="0">
                <a:solidFill>
                  <a:srgbClr val="FFFFFF"/>
                </a:solidFill>
                <a:latin typeface="Verdana"/>
                <a:cs typeface="Verdana"/>
              </a:rPr>
              <a:t>blood</a:t>
            </a:r>
            <a:r>
              <a:rPr sz="37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Verdana"/>
                <a:cs typeface="Verdana"/>
              </a:rPr>
              <a:t>levels </a:t>
            </a:r>
            <a:r>
              <a:rPr sz="3700" spc="-75" dirty="0">
                <a:solidFill>
                  <a:srgbClr val="FFFFFF"/>
                </a:solidFill>
                <a:latin typeface="Verdana"/>
                <a:cs typeface="Verdana"/>
              </a:rPr>
              <a:t>Designed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6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25" dirty="0">
                <a:solidFill>
                  <a:srgbClr val="FFFFFF"/>
                </a:solidFill>
                <a:latin typeface="Verdana"/>
                <a:cs typeface="Verdana"/>
              </a:rPr>
              <a:t>user-</a:t>
            </a:r>
            <a:r>
              <a:rPr sz="3700" spc="-10" dirty="0">
                <a:solidFill>
                  <a:srgbClr val="FFFFFF"/>
                </a:solidFill>
                <a:latin typeface="Verdana"/>
                <a:cs typeface="Verdana"/>
              </a:rPr>
              <a:t>friendly</a:t>
            </a:r>
            <a:r>
              <a:rPr sz="37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Verdana"/>
                <a:cs typeface="Verdana"/>
              </a:rPr>
              <a:t>interface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37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14" dirty="0">
                <a:solidFill>
                  <a:srgbClr val="FFFFFF"/>
                </a:solidFill>
                <a:latin typeface="Verdana"/>
                <a:cs typeface="Verdana"/>
              </a:rPr>
              <a:t>easy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Verdana"/>
                <a:cs typeface="Verdana"/>
              </a:rPr>
              <a:t>navigation</a:t>
            </a:r>
            <a:endParaRPr sz="3700">
              <a:latin typeface="Verdana"/>
              <a:cs typeface="Verdana"/>
            </a:endParaRPr>
          </a:p>
          <a:p>
            <a:pPr marL="12700" marR="5080" indent="20955">
              <a:lnSpc>
                <a:spcPct val="115900"/>
              </a:lnSpc>
              <a:spcBef>
                <a:spcPts val="25"/>
              </a:spcBef>
            </a:pPr>
            <a:r>
              <a:rPr sz="3700" spc="-30" dirty="0">
                <a:solidFill>
                  <a:srgbClr val="FFFFFF"/>
                </a:solidFill>
                <a:latin typeface="Verdana"/>
                <a:cs typeface="Verdana"/>
              </a:rPr>
              <a:t>Used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55" dirty="0">
                <a:solidFill>
                  <a:srgbClr val="FFFFFF"/>
                </a:solidFill>
                <a:latin typeface="Verdana"/>
                <a:cs typeface="Verdana"/>
              </a:rPr>
              <a:t>modular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75" dirty="0">
                <a:solidFill>
                  <a:srgbClr val="FFFFFF"/>
                </a:solidFill>
                <a:latin typeface="Verdana"/>
                <a:cs typeface="Verdana"/>
              </a:rPr>
              <a:t>design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70" dirty="0">
                <a:solidFill>
                  <a:srgbClr val="FFFFFF"/>
                </a:solidFill>
                <a:latin typeface="Verdana"/>
                <a:cs typeface="Verdana"/>
              </a:rPr>
              <a:t>improve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0" dirty="0">
                <a:solidFill>
                  <a:srgbClr val="FFFFFF"/>
                </a:solidFill>
                <a:latin typeface="Verdana"/>
                <a:cs typeface="Verdana"/>
              </a:rPr>
              <a:t>scalability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5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Verdana"/>
                <a:cs typeface="Verdana"/>
              </a:rPr>
              <a:t>maintenance </a:t>
            </a:r>
            <a:r>
              <a:rPr sz="3600" spc="-10" dirty="0">
                <a:solidFill>
                  <a:srgbClr val="FFFFFF"/>
                </a:solidFill>
                <a:latin typeface="Verdana"/>
                <a:cs typeface="Verdana"/>
              </a:rPr>
              <a:t>Planned</a:t>
            </a:r>
            <a:r>
              <a:rPr sz="36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60" dirty="0">
                <a:solidFill>
                  <a:srgbClr val="FFFFFF"/>
                </a:solidFill>
                <a:latin typeface="Verdana"/>
                <a:cs typeface="Verdana"/>
              </a:rPr>
              <a:t>secure</a:t>
            </a:r>
            <a:r>
              <a:rPr sz="36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35" dirty="0">
                <a:solidFill>
                  <a:srgbClr val="FFFFFF"/>
                </a:solidFill>
                <a:latin typeface="Verdana"/>
                <a:cs typeface="Verdana"/>
              </a:rPr>
              <a:t>authentication</a:t>
            </a:r>
            <a:r>
              <a:rPr sz="36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5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6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80" dirty="0">
                <a:solidFill>
                  <a:srgbClr val="FFFFFF"/>
                </a:solidFill>
                <a:latin typeface="Verdana"/>
                <a:cs typeface="Verdana"/>
              </a:rPr>
              <a:t>role-</a:t>
            </a:r>
            <a:r>
              <a:rPr sz="3600" spc="-45" dirty="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sz="36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Verdana"/>
                <a:cs typeface="Verdana"/>
              </a:rPr>
              <a:t>access</a:t>
            </a:r>
            <a:r>
              <a:rPr sz="36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36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Verdana"/>
                <a:cs typeface="Verdana"/>
              </a:rPr>
              <a:t>future enhancement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2635" rIns="0" bIns="0" rtlCol="0">
            <a:spAutoFit/>
          </a:bodyPr>
          <a:lstStyle/>
          <a:p>
            <a:pPr marL="2802255">
              <a:lnSpc>
                <a:spcPct val="100000"/>
              </a:lnSpc>
              <a:spcBef>
                <a:spcPts val="130"/>
              </a:spcBef>
            </a:pPr>
            <a:r>
              <a:rPr sz="8200" spc="-470" dirty="0">
                <a:solidFill>
                  <a:srgbClr val="9D2428"/>
                </a:solidFill>
              </a:rPr>
              <a:t>Future</a:t>
            </a:r>
            <a:r>
              <a:rPr sz="8200" spc="-490" dirty="0">
                <a:solidFill>
                  <a:srgbClr val="9D2428"/>
                </a:solidFill>
              </a:rPr>
              <a:t> </a:t>
            </a:r>
            <a:r>
              <a:rPr sz="8200" spc="-560" dirty="0">
                <a:solidFill>
                  <a:srgbClr val="9D2428"/>
                </a:solidFill>
              </a:rPr>
              <a:t>Enhancements</a:t>
            </a:r>
            <a:endParaRPr sz="8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160" y="4837613"/>
            <a:ext cx="228599" cy="2285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77567" y="4466106"/>
            <a:ext cx="14937105" cy="3649345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 marR="5080">
              <a:lnSpc>
                <a:spcPts val="5480"/>
              </a:lnSpc>
              <a:spcBef>
                <a:spcPts val="1240"/>
              </a:spcBef>
            </a:pPr>
            <a:r>
              <a:rPr sz="5500" b="1" spc="-390" dirty="0">
                <a:solidFill>
                  <a:srgbClr val="9D2428"/>
                </a:solidFill>
                <a:latin typeface="Tahoma"/>
                <a:cs typeface="Tahoma"/>
              </a:rPr>
              <a:t>Integration</a:t>
            </a:r>
            <a:r>
              <a:rPr sz="5500" b="1" spc="-434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295" dirty="0">
                <a:solidFill>
                  <a:srgbClr val="9D2428"/>
                </a:solidFill>
                <a:latin typeface="Tahoma"/>
                <a:cs typeface="Tahoma"/>
              </a:rPr>
              <a:t>with</a:t>
            </a:r>
            <a:r>
              <a:rPr sz="5500" b="1" spc="-31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370" dirty="0">
                <a:solidFill>
                  <a:srgbClr val="9D2428"/>
                </a:solidFill>
                <a:latin typeface="Tahoma"/>
                <a:cs typeface="Tahoma"/>
              </a:rPr>
              <a:t>database</a:t>
            </a:r>
            <a:r>
              <a:rPr sz="5500" b="1" spc="-32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235" dirty="0">
                <a:solidFill>
                  <a:srgbClr val="9D2428"/>
                </a:solidFill>
                <a:latin typeface="Tahoma"/>
                <a:cs typeface="Tahoma"/>
              </a:rPr>
              <a:t>(MySQL</a:t>
            </a:r>
            <a:r>
              <a:rPr sz="5500" b="1" spc="-484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540" dirty="0">
                <a:solidFill>
                  <a:srgbClr val="9D2428"/>
                </a:solidFill>
                <a:latin typeface="Tahoma"/>
                <a:cs typeface="Tahoma"/>
              </a:rPr>
              <a:t>/</a:t>
            </a:r>
            <a:r>
              <a:rPr sz="5500" b="1" spc="-32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295" dirty="0">
                <a:solidFill>
                  <a:srgbClr val="9D2428"/>
                </a:solidFill>
                <a:latin typeface="Tahoma"/>
                <a:cs typeface="Tahoma"/>
              </a:rPr>
              <a:t>MongoDB) </a:t>
            </a:r>
            <a:r>
              <a:rPr sz="5500" b="1" spc="-200" dirty="0">
                <a:solidFill>
                  <a:srgbClr val="9D2428"/>
                </a:solidFill>
                <a:latin typeface="Tahoma"/>
                <a:cs typeface="Tahoma"/>
              </a:rPr>
              <a:t>SMS</a:t>
            </a:r>
            <a:r>
              <a:rPr sz="5500" b="1" spc="-33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540" dirty="0">
                <a:solidFill>
                  <a:srgbClr val="9D2428"/>
                </a:solidFill>
                <a:latin typeface="Tahoma"/>
                <a:cs typeface="Tahoma"/>
              </a:rPr>
              <a:t>/</a:t>
            </a:r>
            <a:r>
              <a:rPr sz="5500" b="1" spc="-32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360" dirty="0">
                <a:solidFill>
                  <a:srgbClr val="9D2428"/>
                </a:solidFill>
                <a:latin typeface="Tahoma"/>
                <a:cs typeface="Tahoma"/>
              </a:rPr>
              <a:t>email</a:t>
            </a:r>
            <a:r>
              <a:rPr sz="5500" b="1" spc="-33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310" dirty="0">
                <a:solidFill>
                  <a:srgbClr val="9D2428"/>
                </a:solidFill>
                <a:latin typeface="Tahoma"/>
                <a:cs typeface="Tahoma"/>
              </a:rPr>
              <a:t>alerts</a:t>
            </a:r>
            <a:r>
              <a:rPr sz="5500" b="1" spc="-32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220" dirty="0">
                <a:solidFill>
                  <a:srgbClr val="9D2428"/>
                </a:solidFill>
                <a:latin typeface="Tahoma"/>
                <a:cs typeface="Tahoma"/>
              </a:rPr>
              <a:t>for</a:t>
            </a:r>
            <a:r>
              <a:rPr sz="5500" b="1" spc="-44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300" dirty="0">
                <a:solidFill>
                  <a:srgbClr val="9D2428"/>
                </a:solidFill>
                <a:latin typeface="Tahoma"/>
                <a:cs typeface="Tahoma"/>
              </a:rPr>
              <a:t>donors</a:t>
            </a:r>
            <a:r>
              <a:rPr sz="5500" b="1" spc="-32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390" dirty="0">
                <a:solidFill>
                  <a:srgbClr val="9D2428"/>
                </a:solidFill>
                <a:latin typeface="Tahoma"/>
                <a:cs typeface="Tahoma"/>
              </a:rPr>
              <a:t>and</a:t>
            </a:r>
            <a:r>
              <a:rPr sz="5500" b="1" spc="-32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320" dirty="0">
                <a:solidFill>
                  <a:srgbClr val="9D2428"/>
                </a:solidFill>
                <a:latin typeface="Tahoma"/>
                <a:cs typeface="Tahoma"/>
              </a:rPr>
              <a:t>hospitals </a:t>
            </a:r>
            <a:r>
              <a:rPr sz="5500" b="1" spc="-325" dirty="0">
                <a:solidFill>
                  <a:srgbClr val="9D2428"/>
                </a:solidFill>
                <a:latin typeface="Tahoma"/>
                <a:cs typeface="Tahoma"/>
              </a:rPr>
              <a:t>Role-</a:t>
            </a:r>
            <a:r>
              <a:rPr sz="5500" b="1" spc="-355" dirty="0">
                <a:solidFill>
                  <a:srgbClr val="9D2428"/>
                </a:solidFill>
                <a:latin typeface="Tahoma"/>
                <a:cs typeface="Tahoma"/>
              </a:rPr>
              <a:t>based</a:t>
            </a:r>
            <a:r>
              <a:rPr sz="5500" b="1" spc="-32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350" dirty="0">
                <a:solidFill>
                  <a:srgbClr val="9D2428"/>
                </a:solidFill>
                <a:latin typeface="Tahoma"/>
                <a:cs typeface="Tahoma"/>
              </a:rPr>
              <a:t>access</a:t>
            </a:r>
            <a:r>
              <a:rPr sz="5500" b="1" spc="-31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400" dirty="0">
                <a:solidFill>
                  <a:srgbClr val="9D2428"/>
                </a:solidFill>
                <a:latin typeface="Tahoma"/>
                <a:cs typeface="Tahoma"/>
              </a:rPr>
              <a:t>(Admin,</a:t>
            </a:r>
            <a:r>
              <a:rPr sz="5500" b="1" spc="-32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335" dirty="0">
                <a:solidFill>
                  <a:srgbClr val="9D2428"/>
                </a:solidFill>
                <a:latin typeface="Tahoma"/>
                <a:cs typeface="Tahoma"/>
              </a:rPr>
              <a:t>Staff,</a:t>
            </a:r>
            <a:r>
              <a:rPr sz="5500" b="1" spc="-31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340" dirty="0">
                <a:solidFill>
                  <a:srgbClr val="9D2428"/>
                </a:solidFill>
                <a:latin typeface="Tahoma"/>
                <a:cs typeface="Tahoma"/>
              </a:rPr>
              <a:t>Hospital) </a:t>
            </a:r>
            <a:r>
              <a:rPr sz="5500" b="1" spc="-175" dirty="0">
                <a:solidFill>
                  <a:srgbClr val="9D2428"/>
                </a:solidFill>
                <a:latin typeface="Tahoma"/>
                <a:cs typeface="Tahoma"/>
              </a:rPr>
              <a:t>Mobile</a:t>
            </a:r>
            <a:r>
              <a:rPr sz="5500" b="1" spc="-31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300" dirty="0">
                <a:solidFill>
                  <a:srgbClr val="9D2428"/>
                </a:solidFill>
                <a:latin typeface="Tahoma"/>
                <a:cs typeface="Tahoma"/>
              </a:rPr>
              <a:t>application</a:t>
            </a:r>
            <a:r>
              <a:rPr sz="5500" b="1" spc="-30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310" dirty="0">
                <a:solidFill>
                  <a:srgbClr val="9D2428"/>
                </a:solidFill>
                <a:latin typeface="Tahoma"/>
                <a:cs typeface="Tahoma"/>
              </a:rPr>
              <a:t>support</a:t>
            </a:r>
            <a:endParaRPr sz="5500">
              <a:latin typeface="Tahoma"/>
              <a:cs typeface="Tahoma"/>
            </a:endParaRPr>
          </a:p>
          <a:p>
            <a:pPr marL="12700">
              <a:lnSpc>
                <a:spcPts val="5465"/>
              </a:lnSpc>
            </a:pPr>
            <a:r>
              <a:rPr sz="5500" b="1" spc="-375" dirty="0">
                <a:solidFill>
                  <a:srgbClr val="9D2428"/>
                </a:solidFill>
                <a:latin typeface="Tahoma"/>
                <a:cs typeface="Tahoma"/>
              </a:rPr>
              <a:t>Real-</a:t>
            </a:r>
            <a:r>
              <a:rPr sz="5500" b="1" spc="-320" dirty="0">
                <a:solidFill>
                  <a:srgbClr val="9D2428"/>
                </a:solidFill>
                <a:latin typeface="Tahoma"/>
                <a:cs typeface="Tahoma"/>
              </a:rPr>
              <a:t>time</a:t>
            </a:r>
            <a:r>
              <a:rPr sz="5500" b="1" spc="-335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310" dirty="0">
                <a:solidFill>
                  <a:srgbClr val="9D2428"/>
                </a:solidFill>
                <a:latin typeface="Tahoma"/>
                <a:cs typeface="Tahoma"/>
              </a:rPr>
              <a:t>analytics</a:t>
            </a:r>
            <a:r>
              <a:rPr sz="5500" b="1" spc="-330" dirty="0">
                <a:solidFill>
                  <a:srgbClr val="9D2428"/>
                </a:solidFill>
                <a:latin typeface="Tahoma"/>
                <a:cs typeface="Tahoma"/>
              </a:rPr>
              <a:t> </a:t>
            </a:r>
            <a:r>
              <a:rPr sz="5500" b="1" spc="-390" dirty="0">
                <a:solidFill>
                  <a:srgbClr val="9D2428"/>
                </a:solidFill>
                <a:latin typeface="Tahoma"/>
                <a:cs typeface="Tahoma"/>
              </a:rPr>
              <a:t>and</a:t>
            </a:r>
            <a:r>
              <a:rPr sz="5500" b="1" spc="-335" dirty="0">
                <a:solidFill>
                  <a:srgbClr val="9D2428"/>
                </a:solidFill>
                <a:latin typeface="Tahoma"/>
                <a:cs typeface="Tahoma"/>
              </a:rPr>
              <a:t> charts</a:t>
            </a:r>
            <a:endParaRPr sz="5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160" y="5532938"/>
            <a:ext cx="228599" cy="228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160" y="6228263"/>
            <a:ext cx="228599" cy="2285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160" y="6923588"/>
            <a:ext cx="228599" cy="2285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160" y="7618913"/>
            <a:ext cx="228599" cy="2285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8287997" cy="102869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243035" y="0"/>
            <a:ext cx="10959465" cy="10287000"/>
          </a:xfrm>
          <a:custGeom>
            <a:avLst/>
            <a:gdLst/>
            <a:ahLst/>
            <a:cxnLst/>
            <a:rect l="l" t="t" r="r" b="b"/>
            <a:pathLst>
              <a:path w="10959465" h="10287000">
                <a:moveTo>
                  <a:pt x="0" y="10286999"/>
                </a:moveTo>
                <a:lnTo>
                  <a:pt x="0" y="0"/>
                </a:lnTo>
                <a:lnTo>
                  <a:pt x="10958836" y="0"/>
                </a:lnTo>
                <a:lnTo>
                  <a:pt x="10958836" y="10286999"/>
                </a:lnTo>
                <a:lnTo>
                  <a:pt x="0" y="10286999"/>
                </a:lnTo>
                <a:close/>
              </a:path>
            </a:pathLst>
          </a:custGeom>
          <a:solidFill>
            <a:srgbClr val="9D2428">
              <a:alpha val="86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354" rIns="0" bIns="0" rtlCol="0">
            <a:spAutoFit/>
          </a:bodyPr>
          <a:lstStyle/>
          <a:p>
            <a:pPr marL="2813050">
              <a:lnSpc>
                <a:spcPct val="100000"/>
              </a:lnSpc>
              <a:spcBef>
                <a:spcPts val="135"/>
              </a:spcBef>
            </a:pPr>
            <a:r>
              <a:rPr spc="-459" dirty="0"/>
              <a:t>Conclusion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96735" y="3892146"/>
            <a:ext cx="9580245" cy="3621404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805"/>
              </a:spcBef>
            </a:pP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45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70" dirty="0">
                <a:solidFill>
                  <a:srgbClr val="FFFFFF"/>
                </a:solidFill>
                <a:latin typeface="Tahoma"/>
                <a:cs typeface="Tahoma"/>
              </a:rPr>
              <a:t>Blood</a:t>
            </a:r>
            <a:r>
              <a:rPr sz="345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Bank</a:t>
            </a:r>
            <a:r>
              <a:rPr sz="345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345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345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provides</a:t>
            </a:r>
            <a:r>
              <a:rPr sz="345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25" dirty="0">
                <a:solidFill>
                  <a:srgbClr val="FFFFFF"/>
                </a:solidFill>
                <a:latin typeface="Tahoma"/>
                <a:cs typeface="Tahoma"/>
              </a:rPr>
              <a:t>an </a:t>
            </a:r>
            <a:r>
              <a:rPr sz="3450" spc="55" dirty="0">
                <a:solidFill>
                  <a:srgbClr val="FFFFFF"/>
                </a:solidFill>
                <a:latin typeface="Tahoma"/>
                <a:cs typeface="Tahoma"/>
              </a:rPr>
              <a:t>eﬃcient</a:t>
            </a:r>
            <a:r>
              <a:rPr sz="345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345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reliable</a:t>
            </a:r>
            <a:r>
              <a:rPr sz="345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solution</a:t>
            </a:r>
            <a:r>
              <a:rPr sz="345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345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60" dirty="0">
                <a:solidFill>
                  <a:srgbClr val="FFFFFF"/>
                </a:solidFill>
                <a:latin typeface="Tahoma"/>
                <a:cs typeface="Tahoma"/>
              </a:rPr>
              <a:t>managing</a:t>
            </a:r>
            <a:r>
              <a:rPr sz="345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Tahoma"/>
                <a:cs typeface="Tahoma"/>
              </a:rPr>
              <a:t>blood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donation</a:t>
            </a:r>
            <a:r>
              <a:rPr sz="34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34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distribution</a:t>
            </a:r>
            <a:r>
              <a:rPr sz="34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25" dirty="0">
                <a:solidFill>
                  <a:srgbClr val="FFFFFF"/>
                </a:solidFill>
                <a:latin typeface="Tahoma"/>
                <a:cs typeface="Tahoma"/>
              </a:rPr>
              <a:t>processes.</a:t>
            </a:r>
            <a:r>
              <a:rPr sz="34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1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345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Tahoma"/>
                <a:cs typeface="Tahoma"/>
              </a:rPr>
              <a:t>digitizing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records</a:t>
            </a:r>
            <a:r>
              <a:rPr sz="345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345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Tahoma"/>
                <a:cs typeface="Tahoma"/>
              </a:rPr>
              <a:t>automating</a:t>
            </a:r>
            <a:r>
              <a:rPr sz="345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workﬂows,</a:t>
            </a:r>
            <a:r>
              <a:rPr sz="345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45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Tahoma"/>
                <a:cs typeface="Tahoma"/>
              </a:rPr>
              <a:t>system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minimizes</a:t>
            </a:r>
            <a:r>
              <a:rPr sz="3450" spc="-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30" dirty="0">
                <a:solidFill>
                  <a:srgbClr val="FFFFFF"/>
                </a:solidFill>
                <a:latin typeface="Tahoma"/>
                <a:cs typeface="Tahoma"/>
              </a:rPr>
              <a:t>errors,</a:t>
            </a:r>
            <a:r>
              <a:rPr sz="345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30" dirty="0">
                <a:solidFill>
                  <a:srgbClr val="FFFFFF"/>
                </a:solidFill>
                <a:latin typeface="Tahoma"/>
                <a:cs typeface="Tahoma"/>
              </a:rPr>
              <a:t>saves</a:t>
            </a:r>
            <a:r>
              <a:rPr sz="345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20" dirty="0">
                <a:solidFill>
                  <a:srgbClr val="FFFFFF"/>
                </a:solidFill>
                <a:latin typeface="Tahoma"/>
                <a:cs typeface="Tahoma"/>
              </a:rPr>
              <a:t>time,</a:t>
            </a:r>
            <a:r>
              <a:rPr sz="345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345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Tahoma"/>
                <a:cs typeface="Tahoma"/>
              </a:rPr>
              <a:t>enhances emergency</a:t>
            </a:r>
            <a:r>
              <a:rPr sz="345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35" dirty="0">
                <a:solidFill>
                  <a:srgbClr val="FFFFFF"/>
                </a:solidFill>
                <a:latin typeface="Tahoma"/>
                <a:cs typeface="Tahoma"/>
              </a:rPr>
              <a:t>response.</a:t>
            </a:r>
            <a:r>
              <a:rPr sz="345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14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345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future</a:t>
            </a:r>
            <a:r>
              <a:rPr sz="345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Tahoma"/>
                <a:cs typeface="Tahoma"/>
              </a:rPr>
              <a:t>enhancements,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45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345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345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become</a:t>
            </a:r>
            <a:r>
              <a:rPr sz="345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45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complete</a:t>
            </a:r>
            <a:r>
              <a:rPr sz="345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20" dirty="0">
                <a:solidFill>
                  <a:srgbClr val="FFFFFF"/>
                </a:solidFill>
                <a:latin typeface="Tahoma"/>
                <a:cs typeface="Tahoma"/>
              </a:rPr>
              <a:t>real-time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healthcare</a:t>
            </a:r>
            <a:r>
              <a:rPr sz="345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dirty="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r>
              <a:rPr sz="345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Tahoma"/>
                <a:cs typeface="Tahoma"/>
              </a:rPr>
              <a:t>platform.</a:t>
            </a:r>
            <a:endParaRPr sz="3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8786" y="4305121"/>
            <a:ext cx="6250305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400" spc="-600" dirty="0"/>
              <a:t>Thank</a:t>
            </a:r>
            <a:r>
              <a:rPr sz="10400" spc="-1080" dirty="0"/>
              <a:t> </a:t>
            </a:r>
            <a:r>
              <a:rPr sz="10400" spc="-1650" dirty="0"/>
              <a:t>Y</a:t>
            </a:r>
            <a:r>
              <a:rPr sz="10400" spc="-420" dirty="0"/>
              <a:t>ou</a:t>
            </a:r>
            <a:endParaRPr sz="10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370</Words>
  <Application>Microsoft Office PowerPoint</Application>
  <PresentationFormat>Custom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Tahoma</vt:lpstr>
      <vt:lpstr>Times New Roman</vt:lpstr>
      <vt:lpstr>Verdana</vt:lpstr>
      <vt:lpstr>Office Theme</vt:lpstr>
      <vt:lpstr>PowerPoint Presentation</vt:lpstr>
      <vt:lpstr>Abstract:</vt:lpstr>
      <vt:lpstr>Donor Management</vt:lpstr>
      <vt:lpstr>Advantages:-</vt:lpstr>
      <vt:lpstr>Disadvantages</vt:lpstr>
      <vt:lpstr>Challenges Faced</vt:lpstr>
      <vt:lpstr>How We Overcome the Challenges</vt:lpstr>
      <vt:lpstr>Future Enhancements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Blodd Bank Management-Frontend</dc:title>
  <dc:creator>Apeksha J N</dc:creator>
  <cp:keywords>DAHAhfK8ISA,BAFbf0uvbbo,0</cp:keywords>
  <cp:lastModifiedBy>Mohammed Abdullah</cp:lastModifiedBy>
  <cp:revision>1</cp:revision>
  <dcterms:created xsi:type="dcterms:W3CDTF">2026-02-06T15:22:05Z</dcterms:created>
  <dcterms:modified xsi:type="dcterms:W3CDTF">2026-02-08T10:10:53Z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2026-02-06T00:00:00Z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2026-02-06T00:00:00Z</vt:filetime>
  </property>
  <property fmtid="{D5CDD505-2E9C-101B-9397-08002B2CF9AE}" pid="5" name="Producer">
    <vt:lpwstr>Canva</vt:lpwstr>
  </property>
</Properties>
</file>