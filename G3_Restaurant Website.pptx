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58" r:id="rId7"/>
    <p:sldId id="259" r:id="rId8"/>
    <p:sldId id="260" r:id="rId9"/>
    <p:sldId id="261" r:id="rId10"/>
    <p:sldId id="262" r:id="rId11"/>
    <p:sldId id="263" r:id="rId12"/>
    <p:sldId id="264" r:id="rId13"/>
    <p:sldId id="265" r:id="rId14"/>
    <p:sldId id="266"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59" autoAdjust="0"/>
    <p:restoredTop sz="94660"/>
  </p:normalViewPr>
  <p:slideViewPr>
    <p:cSldViewPr snapToGrid="0">
      <p:cViewPr varScale="1">
        <p:scale>
          <a:sx n="81" d="100"/>
          <a:sy n="81" d="100"/>
        </p:scale>
        <p:origin x="71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E3976F2-EC91-482D-BB14-9B4C7EF8E346}" type="datetimeFigureOut">
              <a:rPr lang="en-IN" smtClean="0"/>
              <a:t>08-02-2026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02C74A-8747-4D6F-91ED-0ED7BEE0DDC1}" type="slidenum">
              <a:rPr lang="en-IN" smtClean="0"/>
              <a:t>‹#›</a:t>
            </a:fld>
            <a:endParaRPr lang="en-IN"/>
          </a:p>
        </p:txBody>
      </p:sp>
    </p:spTree>
    <p:extLst>
      <p:ext uri="{BB962C8B-B14F-4D97-AF65-F5344CB8AC3E}">
        <p14:creationId xmlns:p14="http://schemas.microsoft.com/office/powerpoint/2010/main" val="3854203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E3976F2-EC91-482D-BB14-9B4C7EF8E346}" type="datetimeFigureOut">
              <a:rPr lang="en-IN" smtClean="0"/>
              <a:t>08-02-2026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02C74A-8747-4D6F-91ED-0ED7BEE0DDC1}" type="slidenum">
              <a:rPr lang="en-IN" smtClean="0"/>
              <a:t>‹#›</a:t>
            </a:fld>
            <a:endParaRPr lang="en-IN"/>
          </a:p>
        </p:txBody>
      </p:sp>
    </p:spTree>
    <p:extLst>
      <p:ext uri="{BB962C8B-B14F-4D97-AF65-F5344CB8AC3E}">
        <p14:creationId xmlns:p14="http://schemas.microsoft.com/office/powerpoint/2010/main" val="37291625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3976F2-EC91-482D-BB14-9B4C7EF8E346}" type="datetimeFigureOut">
              <a:rPr lang="en-IN" smtClean="0"/>
              <a:t>08-02-2026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02C74A-8747-4D6F-91ED-0ED7BEE0DDC1}" type="slidenum">
              <a:rPr lang="en-IN" smtClean="0"/>
              <a:t>‹#›</a:t>
            </a:fld>
            <a:endParaRPr lang="en-IN"/>
          </a:p>
        </p:txBody>
      </p:sp>
    </p:spTree>
    <p:extLst>
      <p:ext uri="{BB962C8B-B14F-4D97-AF65-F5344CB8AC3E}">
        <p14:creationId xmlns:p14="http://schemas.microsoft.com/office/powerpoint/2010/main" val="4090450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E3976F2-EC91-482D-BB14-9B4C7EF8E346}" type="datetimeFigureOut">
              <a:rPr lang="en-IN" smtClean="0"/>
              <a:t>08-02-2026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802C74A-8747-4D6F-91ED-0ED7BEE0DDC1}" type="slidenum">
              <a:rPr lang="en-IN" smtClean="0"/>
              <a:t>‹#›</a:t>
            </a:fld>
            <a:endParaRPr lang="en-IN"/>
          </a:p>
        </p:txBody>
      </p:sp>
    </p:spTree>
    <p:extLst>
      <p:ext uri="{BB962C8B-B14F-4D97-AF65-F5344CB8AC3E}">
        <p14:creationId xmlns:p14="http://schemas.microsoft.com/office/powerpoint/2010/main" val="178902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E3976F2-EC91-482D-BB14-9B4C7EF8E346}" type="datetimeFigureOut">
              <a:rPr lang="en-IN" smtClean="0"/>
              <a:t>08-02-2026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802C74A-8747-4D6F-91ED-0ED7BEE0DDC1}" type="slidenum">
              <a:rPr lang="en-IN" smtClean="0"/>
              <a:t>‹#›</a:t>
            </a:fld>
            <a:endParaRPr lang="en-IN"/>
          </a:p>
        </p:txBody>
      </p:sp>
    </p:spTree>
    <p:extLst>
      <p:ext uri="{BB962C8B-B14F-4D97-AF65-F5344CB8AC3E}">
        <p14:creationId xmlns:p14="http://schemas.microsoft.com/office/powerpoint/2010/main" val="33750746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E3976F2-EC91-482D-BB14-9B4C7EF8E346}" type="datetimeFigureOut">
              <a:rPr lang="en-IN" smtClean="0"/>
              <a:t>08-02-2026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7802C74A-8747-4D6F-91ED-0ED7BEE0DDC1}" type="slidenum">
              <a:rPr lang="en-IN" smtClean="0"/>
              <a:t>‹#›</a:t>
            </a:fld>
            <a:endParaRPr lang="en-IN"/>
          </a:p>
        </p:txBody>
      </p:sp>
    </p:spTree>
    <p:extLst>
      <p:ext uri="{BB962C8B-B14F-4D97-AF65-F5344CB8AC3E}">
        <p14:creationId xmlns:p14="http://schemas.microsoft.com/office/powerpoint/2010/main" val="43252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E3976F2-EC91-482D-BB14-9B4C7EF8E346}" type="datetimeFigureOut">
              <a:rPr lang="en-IN" smtClean="0"/>
              <a:t>08-02-2026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7802C74A-8747-4D6F-91ED-0ED7BEE0DDC1}" type="slidenum">
              <a:rPr lang="en-IN" smtClean="0"/>
              <a:t>‹#›</a:t>
            </a:fld>
            <a:endParaRPr lang="en-IN"/>
          </a:p>
        </p:txBody>
      </p:sp>
    </p:spTree>
    <p:extLst>
      <p:ext uri="{BB962C8B-B14F-4D97-AF65-F5344CB8AC3E}">
        <p14:creationId xmlns:p14="http://schemas.microsoft.com/office/powerpoint/2010/main" val="1896782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E3976F2-EC91-482D-BB14-9B4C7EF8E346}" type="datetimeFigureOut">
              <a:rPr lang="en-IN" smtClean="0"/>
              <a:t>08-02-2026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7802C74A-8747-4D6F-91ED-0ED7BEE0DDC1}" type="slidenum">
              <a:rPr lang="en-IN" smtClean="0"/>
              <a:t>‹#›</a:t>
            </a:fld>
            <a:endParaRPr lang="en-IN"/>
          </a:p>
        </p:txBody>
      </p:sp>
    </p:spTree>
    <p:extLst>
      <p:ext uri="{BB962C8B-B14F-4D97-AF65-F5344CB8AC3E}">
        <p14:creationId xmlns:p14="http://schemas.microsoft.com/office/powerpoint/2010/main" val="25907576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3976F2-EC91-482D-BB14-9B4C7EF8E346}" type="datetimeFigureOut">
              <a:rPr lang="en-IN" smtClean="0"/>
              <a:t>08-02-2026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802C74A-8747-4D6F-91ED-0ED7BEE0DDC1}" type="slidenum">
              <a:rPr lang="en-IN" smtClean="0"/>
              <a:t>‹#›</a:t>
            </a:fld>
            <a:endParaRPr lang="en-IN"/>
          </a:p>
        </p:txBody>
      </p:sp>
    </p:spTree>
    <p:extLst>
      <p:ext uri="{BB962C8B-B14F-4D97-AF65-F5344CB8AC3E}">
        <p14:creationId xmlns:p14="http://schemas.microsoft.com/office/powerpoint/2010/main" val="3402107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3976F2-EC91-482D-BB14-9B4C7EF8E346}" type="datetimeFigureOut">
              <a:rPr lang="en-IN" smtClean="0"/>
              <a:t>08-02-2026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802C74A-8747-4D6F-91ED-0ED7BEE0DDC1}" type="slidenum">
              <a:rPr lang="en-IN" smtClean="0"/>
              <a:t>‹#›</a:t>
            </a:fld>
            <a:endParaRPr lang="en-IN"/>
          </a:p>
        </p:txBody>
      </p:sp>
    </p:spTree>
    <p:extLst>
      <p:ext uri="{BB962C8B-B14F-4D97-AF65-F5344CB8AC3E}">
        <p14:creationId xmlns:p14="http://schemas.microsoft.com/office/powerpoint/2010/main" val="14033804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E3976F2-EC91-482D-BB14-9B4C7EF8E346}" type="datetimeFigureOut">
              <a:rPr lang="en-IN" smtClean="0"/>
              <a:t>08-02-2026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02C74A-8747-4D6F-91ED-0ED7BEE0DDC1}" type="slidenum">
              <a:rPr lang="en-IN" smtClean="0"/>
              <a:t>‹#›</a:t>
            </a:fld>
            <a:endParaRPr lang="en-IN"/>
          </a:p>
        </p:txBody>
      </p:sp>
    </p:spTree>
    <p:extLst>
      <p:ext uri="{BB962C8B-B14F-4D97-AF65-F5344CB8AC3E}">
        <p14:creationId xmlns:p14="http://schemas.microsoft.com/office/powerpoint/2010/main" val="31502615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E3976F2-EC91-482D-BB14-9B4C7EF8E346}" type="datetimeFigureOut">
              <a:rPr lang="en-IN" smtClean="0"/>
              <a:t>08-02-2026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02C74A-8747-4D6F-91ED-0ED7BEE0DDC1}"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771398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3976F2-EC91-482D-BB14-9B4C7EF8E346}" type="datetimeFigureOut">
              <a:rPr lang="en-IN" smtClean="0"/>
              <a:t>08-02-2026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02C74A-8747-4D6F-91ED-0ED7BEE0DDC1}" type="slidenum">
              <a:rPr lang="en-IN" smtClean="0"/>
              <a:t>‹#›</a:t>
            </a:fld>
            <a:endParaRPr lang="en-IN"/>
          </a:p>
        </p:txBody>
      </p:sp>
    </p:spTree>
    <p:extLst>
      <p:ext uri="{BB962C8B-B14F-4D97-AF65-F5344CB8AC3E}">
        <p14:creationId xmlns:p14="http://schemas.microsoft.com/office/powerpoint/2010/main" val="41148949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E3976F2-EC91-482D-BB14-9B4C7EF8E346}" type="datetimeFigureOut">
              <a:rPr lang="en-IN" smtClean="0"/>
              <a:t>08-02-2026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02C74A-8747-4D6F-91ED-0ED7BEE0DDC1}" type="slidenum">
              <a:rPr lang="en-IN" smtClean="0"/>
              <a:t>‹#›</a:t>
            </a:fld>
            <a:endParaRPr lang="en-IN"/>
          </a:p>
        </p:txBody>
      </p:sp>
    </p:spTree>
    <p:extLst>
      <p:ext uri="{BB962C8B-B14F-4D97-AF65-F5344CB8AC3E}">
        <p14:creationId xmlns:p14="http://schemas.microsoft.com/office/powerpoint/2010/main" val="31843562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E3976F2-EC91-482D-BB14-9B4C7EF8E346}" type="datetimeFigureOut">
              <a:rPr lang="en-IN" smtClean="0"/>
              <a:t>08-02-2026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02C74A-8747-4D6F-91ED-0ED7BEE0DDC1}" type="slidenum">
              <a:rPr lang="en-IN" smtClean="0"/>
              <a:t>‹#›</a:t>
            </a:fld>
            <a:endParaRPr lang="en-IN"/>
          </a:p>
        </p:txBody>
      </p:sp>
    </p:spTree>
    <p:extLst>
      <p:ext uri="{BB962C8B-B14F-4D97-AF65-F5344CB8AC3E}">
        <p14:creationId xmlns:p14="http://schemas.microsoft.com/office/powerpoint/2010/main" val="22213821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3976F2-EC91-482D-BB14-9B4C7EF8E346}" type="datetimeFigureOut">
              <a:rPr lang="en-IN" smtClean="0"/>
              <a:t>08-02-2026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02C74A-8747-4D6F-91ED-0ED7BEE0DDC1}" type="slidenum">
              <a:rPr lang="en-IN" smtClean="0"/>
              <a:t>‹#›</a:t>
            </a:fld>
            <a:endParaRPr lang="en-IN"/>
          </a:p>
        </p:txBody>
      </p:sp>
    </p:spTree>
    <p:extLst>
      <p:ext uri="{BB962C8B-B14F-4D97-AF65-F5344CB8AC3E}">
        <p14:creationId xmlns:p14="http://schemas.microsoft.com/office/powerpoint/2010/main" val="15063603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3976F2-EC91-482D-BB14-9B4C7EF8E346}" type="datetimeFigureOut">
              <a:rPr lang="en-IN" smtClean="0"/>
              <a:t>08-02-2026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02C74A-8747-4D6F-91ED-0ED7BEE0DDC1}" type="slidenum">
              <a:rPr lang="en-IN" smtClean="0"/>
              <a:t>‹#›</a:t>
            </a:fld>
            <a:endParaRPr lang="en-IN"/>
          </a:p>
        </p:txBody>
      </p:sp>
    </p:spTree>
    <p:extLst>
      <p:ext uri="{BB962C8B-B14F-4D97-AF65-F5344CB8AC3E}">
        <p14:creationId xmlns:p14="http://schemas.microsoft.com/office/powerpoint/2010/main" val="6970458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E3976F2-EC91-482D-BB14-9B4C7EF8E346}" type="datetimeFigureOut">
              <a:rPr lang="en-IN" smtClean="0"/>
              <a:t>08-02-2026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7802C74A-8747-4D6F-91ED-0ED7BEE0DDC1}" type="slidenum">
              <a:rPr lang="en-IN" smtClean="0"/>
              <a:t>‹#›</a:t>
            </a:fld>
            <a:endParaRPr lang="en-IN"/>
          </a:p>
        </p:txBody>
      </p:sp>
    </p:spTree>
    <p:extLst>
      <p:ext uri="{BB962C8B-B14F-4D97-AF65-F5344CB8AC3E}">
        <p14:creationId xmlns:p14="http://schemas.microsoft.com/office/powerpoint/2010/main" val="293123142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hyperlink" Target="https://techcommunity.microsoft.com/blog/adformysql/building-a-restaurant-management-system-with-azure-database-for-mysql/429710" TargetMode="External"/><Relationship Id="rId13" Type="http://schemas.openxmlformats.org/officeDocument/2006/relationships/hyperlink" Target="https://www.scribd.com/document/640185044/Restaurant-Website" TargetMode="External"/><Relationship Id="rId3" Type="http://schemas.openxmlformats.org/officeDocument/2006/relationships/hyperlink" Target="https://www.youtube.com/watch?v=xe6xcF1Zchk" TargetMode="External"/><Relationship Id="rId7" Type="http://schemas.openxmlformats.org/officeDocument/2006/relationships/hyperlink" Target="https://dev.to/jhk_info/next-js-vs-react-performance-a-comprehensive-comparison-4fgc" TargetMode="External"/><Relationship Id="rId12" Type="http://schemas.openxmlformats.org/officeDocument/2006/relationships/hyperlink" Target="https://nishithacks.hashnode.dev/react-vs-nextjs-unveiling-performance-secrets-for-web-developers" TargetMode="External"/><Relationship Id="rId2" Type="http://schemas.openxmlformats.org/officeDocument/2006/relationships/hyperlink" Target="https://www.squarespace.com/blog/restaurant-website-design-examples" TargetMode="External"/><Relationship Id="rId1" Type="http://schemas.openxmlformats.org/officeDocument/2006/relationships/slideLayout" Target="../slideLayouts/slideLayout2.xml"/><Relationship Id="rId6" Type="http://schemas.openxmlformats.org/officeDocument/2006/relationships/hyperlink" Target="http://dev.to/" TargetMode="External"/><Relationship Id="rId11" Type="http://schemas.openxmlformats.org/officeDocument/2006/relationships/hyperlink" Target="https://business.adobe.com/products/adobe-analytics/customer-journey-analytics/flow-diagrams.html" TargetMode="External"/><Relationship Id="rId5" Type="http://schemas.openxmlformats.org/officeDocument/2006/relationships/hyperlink" Target="https://online.visual-paradigm.com/diagrams/templates/flowchart/restaurant-service-flowchart" TargetMode="External"/><Relationship Id="rId10" Type="http://schemas.openxmlformats.org/officeDocument/2006/relationships/hyperlink" Target="https://shivlab.com/blog/nextjs-vs-react-which-one-is-best-for-web-apps/" TargetMode="External"/><Relationship Id="rId4" Type="http://schemas.openxmlformats.org/officeDocument/2006/relationships/hyperlink" Target="https://www.scribd.com/document/455694826/DB-Schema-docx" TargetMode="External"/><Relationship Id="rId9" Type="http://schemas.openxmlformats.org/officeDocument/2006/relationships/hyperlink" Target="https://www.custellence.com/restaurant-food-ordering-and-delivery-customer-journey-map-template/"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182C9-A08D-2E4B-CCED-E4090D50A992}"/>
              </a:ext>
            </a:extLst>
          </p:cNvPr>
          <p:cNvSpPr>
            <a:spLocks noGrp="1"/>
          </p:cNvSpPr>
          <p:nvPr>
            <p:ph type="ctrTitle"/>
          </p:nvPr>
        </p:nvSpPr>
        <p:spPr>
          <a:xfrm>
            <a:off x="1150374" y="157316"/>
            <a:ext cx="9212826" cy="1268361"/>
          </a:xfrm>
        </p:spPr>
        <p:txBody>
          <a:bodyPr>
            <a:normAutofit fontScale="90000"/>
          </a:bodyPr>
          <a:lstStyle/>
          <a:p>
            <a:pPr algn="ctr"/>
            <a:r>
              <a:rPr lang="en-US" sz="4000" b="1" dirty="0">
                <a:latin typeface="Times New Roman" panose="02020603050405020304" pitchFamily="18" charset="0"/>
                <a:cs typeface="Times New Roman" panose="02020603050405020304" pitchFamily="18" charset="0"/>
              </a:rPr>
              <a:t>Group 3</a:t>
            </a:r>
            <a:br>
              <a:rPr lang="en-US" sz="4000" dirty="0">
                <a:latin typeface="Times New Roman" panose="02020603050405020304" pitchFamily="18" charset="0"/>
                <a:cs typeface="Times New Roman" panose="02020603050405020304" pitchFamily="18" charset="0"/>
              </a:rPr>
            </a:br>
            <a:r>
              <a:rPr lang="en-US" sz="4900" b="1" dirty="0">
                <a:latin typeface="Times New Roman" panose="02020603050405020304" pitchFamily="18" charset="0"/>
                <a:cs typeface="Times New Roman" panose="02020603050405020304" pitchFamily="18" charset="0"/>
              </a:rPr>
              <a:t>Project Title: Restaurant Website</a:t>
            </a:r>
            <a:endParaRPr lang="en-IN" sz="49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CA721C18-43D1-21F5-F6C6-CBA8758B84EB}"/>
              </a:ext>
            </a:extLst>
          </p:cNvPr>
          <p:cNvSpPr>
            <a:spLocks noGrp="1"/>
          </p:cNvSpPr>
          <p:nvPr>
            <p:ph type="subTitle" idx="1"/>
          </p:nvPr>
        </p:nvSpPr>
        <p:spPr>
          <a:xfrm>
            <a:off x="1258529" y="1846980"/>
            <a:ext cx="9409471" cy="4445665"/>
          </a:xfrm>
        </p:spPr>
        <p:txBody>
          <a:bodyPr>
            <a:normAutofit/>
          </a:bodyPr>
          <a:lstStyle/>
          <a:p>
            <a:pPr algn="l">
              <a:lnSpc>
                <a:spcPct val="100000"/>
              </a:lnSpc>
            </a:pPr>
            <a:r>
              <a:rPr lang="en-US" b="1" u="sng" dirty="0"/>
              <a:t>MEET THE TEAM</a:t>
            </a:r>
          </a:p>
          <a:p>
            <a:pPr algn="l">
              <a:lnSpc>
                <a:spcPct val="100000"/>
              </a:lnSpc>
            </a:pPr>
            <a:endParaRPr lang="en-US" b="1" u="sng" dirty="0"/>
          </a:p>
          <a:p>
            <a:pPr marL="457200" indent="-457200" algn="l">
              <a:lnSpc>
                <a:spcPct val="100000"/>
              </a:lnSpc>
              <a:buFont typeface="+mj-lt"/>
              <a:buAutoNum type="arabicPeriod"/>
            </a:pPr>
            <a:r>
              <a:rPr lang="en-US"/>
              <a:t>MOHAMMED ABDULLAH</a:t>
            </a:r>
            <a:r>
              <a:rPr lang="en-US" sz="2000"/>
              <a:t> </a:t>
            </a:r>
            <a:r>
              <a:rPr lang="en-US" sz="2000" dirty="0"/>
              <a:t>( Team Leader )</a:t>
            </a:r>
          </a:p>
          <a:p>
            <a:pPr marL="457200" indent="-457200" algn="l">
              <a:lnSpc>
                <a:spcPct val="100000"/>
              </a:lnSpc>
              <a:buFont typeface="+mj-lt"/>
              <a:buAutoNum type="arabicPeriod"/>
            </a:pPr>
            <a:r>
              <a:rPr lang="en-US" sz="2000" dirty="0"/>
              <a:t>Syed </a:t>
            </a:r>
            <a:r>
              <a:rPr lang="en-US" sz="2000" dirty="0" err="1"/>
              <a:t>inthiqhab</a:t>
            </a:r>
            <a:r>
              <a:rPr lang="en-US" sz="2000" dirty="0"/>
              <a:t> </a:t>
            </a:r>
            <a:r>
              <a:rPr lang="en-US" sz="2000" dirty="0" err="1"/>
              <a:t>alaM</a:t>
            </a:r>
            <a:endParaRPr lang="en-US" sz="2000" dirty="0"/>
          </a:p>
          <a:p>
            <a:pPr marL="457200" indent="-457200" algn="l">
              <a:lnSpc>
                <a:spcPct val="100000"/>
              </a:lnSpc>
              <a:buFont typeface="+mj-lt"/>
              <a:buAutoNum type="arabicPeriod"/>
            </a:pPr>
            <a:endParaRPr lang="en-US" dirty="0"/>
          </a:p>
          <a:p>
            <a:pPr marL="457200" indent="-457200" algn="l">
              <a:lnSpc>
                <a:spcPct val="100000"/>
              </a:lnSpc>
              <a:buFont typeface="+mj-lt"/>
              <a:buAutoNum type="arabicPeriod"/>
            </a:pPr>
            <a:endParaRPr lang="en-US" dirty="0"/>
          </a:p>
          <a:p>
            <a:pPr marL="457200" indent="-457200" algn="l">
              <a:lnSpc>
                <a:spcPct val="100000"/>
              </a:lnSpc>
              <a:buFont typeface="+mj-lt"/>
              <a:buAutoNum type="arabicPeriod"/>
            </a:pPr>
            <a:endParaRPr lang="en-US" dirty="0"/>
          </a:p>
          <a:p>
            <a:pPr marL="457200" indent="-457200" algn="l">
              <a:lnSpc>
                <a:spcPct val="100000"/>
              </a:lnSpc>
              <a:buFont typeface="+mj-lt"/>
              <a:buAutoNum type="arabicPeriod"/>
            </a:pPr>
            <a:endParaRPr lang="en-US" dirty="0"/>
          </a:p>
          <a:p>
            <a:pPr marL="457200" indent="-457200" algn="l">
              <a:lnSpc>
                <a:spcPct val="100000"/>
              </a:lnSpc>
              <a:buFont typeface="+mj-lt"/>
              <a:buAutoNum type="arabicPeriod"/>
            </a:pPr>
            <a:endParaRPr lang="en-US" dirty="0"/>
          </a:p>
          <a:p>
            <a:pPr marL="457200" indent="-457200" algn="l">
              <a:lnSpc>
                <a:spcPct val="100000"/>
              </a:lnSpc>
              <a:buFont typeface="+mj-lt"/>
              <a:buAutoNum type="arabicPeriod"/>
            </a:pPr>
            <a:endParaRPr lang="en-US" dirty="0"/>
          </a:p>
          <a:p>
            <a:pPr marL="457200" indent="-457200" algn="l">
              <a:lnSpc>
                <a:spcPct val="100000"/>
              </a:lnSpc>
              <a:buFont typeface="+mj-lt"/>
              <a:buAutoNum type="arabicPeriod"/>
            </a:pPr>
            <a:endParaRPr lang="en-IN" dirty="0"/>
          </a:p>
        </p:txBody>
      </p:sp>
    </p:spTree>
    <p:extLst>
      <p:ext uri="{BB962C8B-B14F-4D97-AF65-F5344CB8AC3E}">
        <p14:creationId xmlns:p14="http://schemas.microsoft.com/office/powerpoint/2010/main" val="36725225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A486E-954E-6FBB-94F6-ED9E9C2E90A5}"/>
              </a:ext>
            </a:extLst>
          </p:cNvPr>
          <p:cNvSpPr>
            <a:spLocks noGrp="1"/>
          </p:cNvSpPr>
          <p:nvPr>
            <p:ph type="title"/>
          </p:nvPr>
        </p:nvSpPr>
        <p:spPr>
          <a:xfrm>
            <a:off x="872252" y="472383"/>
            <a:ext cx="9404723" cy="1400530"/>
          </a:xfrm>
        </p:spPr>
        <p:txBody>
          <a:bodyPr>
            <a:normAutofit/>
          </a:bodyPr>
          <a:lstStyle/>
          <a:p>
            <a:r>
              <a:rPr lang="en-US" sz="4000" b="1" dirty="0">
                <a:latin typeface="Times New Roman" panose="02020603050405020304" pitchFamily="18" charset="0"/>
                <a:cs typeface="Times New Roman" panose="02020603050405020304" pitchFamily="18" charset="0"/>
              </a:rPr>
              <a:t>Presentation Flow</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62ED16A-54DA-25E9-69A5-D5CFABCE6606}"/>
              </a:ext>
            </a:extLst>
          </p:cNvPr>
          <p:cNvSpPr>
            <a:spLocks noGrp="1"/>
          </p:cNvSpPr>
          <p:nvPr>
            <p:ph idx="1"/>
          </p:nvPr>
        </p:nvSpPr>
        <p:spPr>
          <a:xfrm>
            <a:off x="999092" y="1972396"/>
            <a:ext cx="9404723" cy="3868614"/>
          </a:xfrm>
        </p:spPr>
        <p:txBody>
          <a:bodyPr>
            <a:normAutofit/>
          </a:bodyPr>
          <a:lstStyle/>
          <a:p>
            <a:r>
              <a:rPr lang="en-US" dirty="0"/>
              <a:t>Introduction</a:t>
            </a:r>
          </a:p>
          <a:p>
            <a:r>
              <a:rPr lang="en-US" dirty="0"/>
              <a:t>Problem Statement</a:t>
            </a:r>
          </a:p>
          <a:p>
            <a:r>
              <a:rPr lang="en-US" dirty="0"/>
              <a:t>Project Goal</a:t>
            </a:r>
          </a:p>
          <a:p>
            <a:r>
              <a:rPr lang="en-US" dirty="0"/>
              <a:t>Objective</a:t>
            </a:r>
          </a:p>
          <a:p>
            <a:r>
              <a:rPr lang="en-US" dirty="0"/>
              <a:t>Architecture Diagram</a:t>
            </a:r>
          </a:p>
          <a:p>
            <a:r>
              <a:rPr lang="en-US" dirty="0"/>
              <a:t>Design</a:t>
            </a:r>
          </a:p>
          <a:p>
            <a:r>
              <a:rPr lang="en-US" dirty="0"/>
              <a:t>Conclusion</a:t>
            </a:r>
          </a:p>
          <a:p>
            <a:r>
              <a:rPr lang="en-US" dirty="0"/>
              <a:t>Reference</a:t>
            </a:r>
            <a:endParaRPr lang="en-IN" dirty="0"/>
          </a:p>
        </p:txBody>
      </p:sp>
    </p:spTree>
    <p:extLst>
      <p:ext uri="{BB962C8B-B14F-4D97-AF65-F5344CB8AC3E}">
        <p14:creationId xmlns:p14="http://schemas.microsoft.com/office/powerpoint/2010/main" val="2313320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2C7B0-ED23-53FE-7FD2-13112FF033E8}"/>
              </a:ext>
            </a:extLst>
          </p:cNvPr>
          <p:cNvSpPr>
            <a:spLocks noGrp="1"/>
          </p:cNvSpPr>
          <p:nvPr>
            <p:ph type="title"/>
          </p:nvPr>
        </p:nvSpPr>
        <p:spPr>
          <a:xfrm>
            <a:off x="864157" y="452718"/>
            <a:ext cx="9186677" cy="923906"/>
          </a:xfrm>
        </p:spPr>
        <p:txBody>
          <a:bodyPr>
            <a:normAutofit/>
          </a:bodyPr>
          <a:lstStyle/>
          <a:p>
            <a:r>
              <a:rPr lang="en-US" sz="4000" b="1" dirty="0">
                <a:latin typeface="Times New Roman" panose="02020603050405020304" pitchFamily="18" charset="0"/>
                <a:cs typeface="Times New Roman" panose="02020603050405020304" pitchFamily="18" charset="0"/>
              </a:rPr>
              <a:t>Introduction</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349490A-0818-D389-171E-AEDA9AF133E7}"/>
              </a:ext>
            </a:extLst>
          </p:cNvPr>
          <p:cNvSpPr>
            <a:spLocks noGrp="1"/>
          </p:cNvSpPr>
          <p:nvPr>
            <p:ph idx="1"/>
          </p:nvPr>
        </p:nvSpPr>
        <p:spPr>
          <a:xfrm>
            <a:off x="863179" y="1533832"/>
            <a:ext cx="9067402" cy="4090219"/>
          </a:xfrm>
        </p:spPr>
        <p:txBody>
          <a:bodyPr>
            <a:normAutofit fontScale="32500" lnSpcReduction="20000"/>
          </a:bodyPr>
          <a:lstStyle/>
          <a:p>
            <a:pPr marL="0" indent="0">
              <a:lnSpc>
                <a:spcPct val="250000"/>
              </a:lnSpc>
              <a:buNone/>
            </a:pPr>
            <a:r>
              <a:rPr lang="en-US" sz="6000" dirty="0"/>
              <a:t>The purpose of this project is to develop a modern restaurant website that highlights the brand, ambiance, and menu while enabling seamless online ordering. It bridges traditional dining with digital convenience, meeting the evolving expectations of contemporary diners and enhancing customer engagement and satisfaction.</a:t>
            </a:r>
          </a:p>
          <a:p>
            <a:endParaRPr lang="en-IN" dirty="0"/>
          </a:p>
        </p:txBody>
      </p:sp>
    </p:spTree>
    <p:extLst>
      <p:ext uri="{BB962C8B-B14F-4D97-AF65-F5344CB8AC3E}">
        <p14:creationId xmlns:p14="http://schemas.microsoft.com/office/powerpoint/2010/main" val="869529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FDF04-1CFF-ECE6-6BDD-7130F7FC9A99}"/>
              </a:ext>
            </a:extLst>
          </p:cNvPr>
          <p:cNvSpPr>
            <a:spLocks noGrp="1"/>
          </p:cNvSpPr>
          <p:nvPr>
            <p:ph type="title"/>
          </p:nvPr>
        </p:nvSpPr>
        <p:spPr>
          <a:xfrm>
            <a:off x="645130" y="423222"/>
            <a:ext cx="9404723" cy="1051617"/>
          </a:xfrm>
        </p:spPr>
        <p:txBody>
          <a:bodyPr>
            <a:normAutofit/>
          </a:bodyPr>
          <a:lstStyle/>
          <a:p>
            <a:r>
              <a:rPr lang="en-US" sz="4000" b="1" dirty="0">
                <a:latin typeface="Times New Roman" panose="02020603050405020304" pitchFamily="18" charset="0"/>
                <a:cs typeface="Times New Roman" panose="02020603050405020304" pitchFamily="18" charset="0"/>
              </a:rPr>
              <a:t>Problem Statement</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E439F0F-2565-C665-7180-870FAB371F13}"/>
              </a:ext>
            </a:extLst>
          </p:cNvPr>
          <p:cNvSpPr>
            <a:spLocks noGrp="1"/>
          </p:cNvSpPr>
          <p:nvPr>
            <p:ph idx="1"/>
          </p:nvPr>
        </p:nvSpPr>
        <p:spPr>
          <a:xfrm>
            <a:off x="747252" y="1700982"/>
            <a:ext cx="9302601" cy="3559276"/>
          </a:xfrm>
        </p:spPr>
        <p:txBody>
          <a:bodyPr>
            <a:normAutofit/>
          </a:bodyPr>
          <a:lstStyle/>
          <a:p>
            <a:pPr lvl="0"/>
            <a:r>
              <a:rPr lang="en-US" sz="2400" dirty="0"/>
              <a:t>Manual order taking leads to errors.</a:t>
            </a:r>
          </a:p>
          <a:p>
            <a:pPr lvl="0"/>
            <a:r>
              <a:rPr lang="en-US" sz="2400" dirty="0"/>
              <a:t>Long queues during peak hours.</a:t>
            </a:r>
          </a:p>
          <a:p>
            <a:pPr lvl="0"/>
            <a:r>
              <a:rPr lang="en-US" sz="2400" dirty="0"/>
              <a:t>Lack of real-time order tracking. </a:t>
            </a:r>
          </a:p>
          <a:p>
            <a:pPr lvl="0"/>
            <a:r>
              <a:rPr lang="en-US" sz="2400" dirty="0"/>
              <a:t>Poor data management and analytics.</a:t>
            </a:r>
          </a:p>
          <a:p>
            <a:pPr lvl="0"/>
            <a:r>
              <a:rPr lang="en-US" sz="2400" dirty="0"/>
              <a:t>Dependence on third-party delivery platforms with high commissions. </a:t>
            </a:r>
            <a:endParaRPr lang="en-IN" sz="2400" dirty="0"/>
          </a:p>
        </p:txBody>
      </p:sp>
    </p:spTree>
    <p:extLst>
      <p:ext uri="{BB962C8B-B14F-4D97-AF65-F5344CB8AC3E}">
        <p14:creationId xmlns:p14="http://schemas.microsoft.com/office/powerpoint/2010/main" val="121458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A05D8-299C-A885-687F-59FA71E695D3}"/>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Project Goal</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8638B61-7494-5C82-9791-BE6756C546F0}"/>
              </a:ext>
            </a:extLst>
          </p:cNvPr>
          <p:cNvSpPr>
            <a:spLocks noGrp="1"/>
          </p:cNvSpPr>
          <p:nvPr>
            <p:ph idx="1"/>
          </p:nvPr>
        </p:nvSpPr>
        <p:spPr>
          <a:xfrm>
            <a:off x="717756" y="1661653"/>
            <a:ext cx="9332098" cy="2831690"/>
          </a:xfrm>
        </p:spPr>
        <p:txBody>
          <a:bodyPr>
            <a:noAutofit/>
          </a:bodyPr>
          <a:lstStyle/>
          <a:p>
            <a:pPr marL="0" indent="0">
              <a:lnSpc>
                <a:spcPct val="250000"/>
              </a:lnSpc>
              <a:buNone/>
            </a:pPr>
            <a:r>
              <a:rPr lang="en-US" sz="2400" dirty="0"/>
              <a:t>To develop a user-centric restaurant platform with responsive design, intuitive navigation, real-time order management, and admin controls using MERN Stack, Next.js, Vite, Clerk for scalable, high-performance, SEO-friendly operations.</a:t>
            </a:r>
            <a:endParaRPr lang="en-IN" sz="2400" dirty="0"/>
          </a:p>
        </p:txBody>
      </p:sp>
    </p:spTree>
    <p:extLst>
      <p:ext uri="{BB962C8B-B14F-4D97-AF65-F5344CB8AC3E}">
        <p14:creationId xmlns:p14="http://schemas.microsoft.com/office/powerpoint/2010/main" val="1486843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0FB10-F1C2-ACEC-CB75-DD78EEF8BD27}"/>
              </a:ext>
            </a:extLst>
          </p:cNvPr>
          <p:cNvSpPr>
            <a:spLocks noGrp="1"/>
          </p:cNvSpPr>
          <p:nvPr>
            <p:ph type="title"/>
          </p:nvPr>
        </p:nvSpPr>
        <p:spPr>
          <a:xfrm>
            <a:off x="901750" y="570705"/>
            <a:ext cx="9404723" cy="1400530"/>
          </a:xfrm>
        </p:spPr>
        <p:txBody>
          <a:bodyPr>
            <a:normAutofit/>
          </a:bodyPr>
          <a:lstStyle/>
          <a:p>
            <a:r>
              <a:rPr lang="en-US" sz="4000" b="1" dirty="0">
                <a:latin typeface="Times New Roman" panose="02020603050405020304" pitchFamily="18" charset="0"/>
                <a:cs typeface="Times New Roman" panose="02020603050405020304" pitchFamily="18" charset="0"/>
              </a:rPr>
              <a:t>Objectives</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6363C68-DD6B-73AB-786E-65B9AAD36093}"/>
              </a:ext>
            </a:extLst>
          </p:cNvPr>
          <p:cNvSpPr>
            <a:spLocks noGrp="1"/>
          </p:cNvSpPr>
          <p:nvPr>
            <p:ph idx="1"/>
          </p:nvPr>
        </p:nvSpPr>
        <p:spPr>
          <a:xfrm>
            <a:off x="1003872" y="1865671"/>
            <a:ext cx="9302601" cy="3578941"/>
          </a:xfrm>
        </p:spPr>
        <p:txBody>
          <a:bodyPr/>
          <a:lstStyle/>
          <a:p>
            <a:pPr lvl="0">
              <a:lnSpc>
                <a:spcPct val="150000"/>
              </a:lnSpc>
            </a:pPr>
            <a:r>
              <a:rPr lang="en-US" dirty="0"/>
              <a:t>To provide a user-friendly restaurant website. </a:t>
            </a:r>
          </a:p>
          <a:p>
            <a:pPr lvl="0">
              <a:lnSpc>
                <a:spcPct val="150000"/>
              </a:lnSpc>
            </a:pPr>
            <a:r>
              <a:rPr lang="en-US" dirty="0"/>
              <a:t>To enable seamless online food ordering. </a:t>
            </a:r>
          </a:p>
          <a:p>
            <a:pPr lvl="0">
              <a:lnSpc>
                <a:spcPct val="150000"/>
              </a:lnSpc>
            </a:pPr>
            <a:r>
              <a:rPr lang="en-US" dirty="0"/>
              <a:t>To reduce order processing time. </a:t>
            </a:r>
          </a:p>
          <a:p>
            <a:pPr lvl="0">
              <a:lnSpc>
                <a:spcPct val="150000"/>
              </a:lnSpc>
            </a:pPr>
            <a:r>
              <a:rPr lang="en-US" dirty="0"/>
              <a:t>To improve accuracy and customer satisfaction. </a:t>
            </a:r>
          </a:p>
          <a:p>
            <a:pPr lvl="0">
              <a:lnSpc>
                <a:spcPct val="150000"/>
              </a:lnSpc>
            </a:pPr>
            <a:r>
              <a:rPr lang="en-US" dirty="0"/>
              <a:t>To support restaurant owners with analytics and insights</a:t>
            </a:r>
            <a:endParaRPr lang="en-IN" dirty="0"/>
          </a:p>
          <a:p>
            <a:endParaRPr lang="en-IN" dirty="0"/>
          </a:p>
          <a:p>
            <a:endParaRPr lang="en-IN" dirty="0"/>
          </a:p>
        </p:txBody>
      </p:sp>
    </p:spTree>
    <p:extLst>
      <p:ext uri="{BB962C8B-B14F-4D97-AF65-F5344CB8AC3E}">
        <p14:creationId xmlns:p14="http://schemas.microsoft.com/office/powerpoint/2010/main" val="15994858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2" name="Rectangle 1041">
            <a:extLst>
              <a:ext uri="{FF2B5EF4-FFF2-40B4-BE49-F238E27FC236}">
                <a16:creationId xmlns:a16="http://schemas.microsoft.com/office/drawing/2014/main" id="{5F3FC718-FDE3-4EF7-921E-A5F374EAF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52AA75-A06D-5B5E-89E5-CB3B2A727BCE}"/>
              </a:ext>
            </a:extLst>
          </p:cNvPr>
          <p:cNvSpPr>
            <a:spLocks noGrp="1"/>
          </p:cNvSpPr>
          <p:nvPr>
            <p:ph type="title"/>
          </p:nvPr>
        </p:nvSpPr>
        <p:spPr>
          <a:xfrm>
            <a:off x="526342" y="191603"/>
            <a:ext cx="3108626" cy="1444752"/>
          </a:xfrm>
        </p:spPr>
        <p:txBody>
          <a:bodyPr anchor="b">
            <a:normAutofit/>
          </a:bodyPr>
          <a:lstStyle/>
          <a:p>
            <a:r>
              <a:rPr lang="en-US" sz="4000" b="1" dirty="0">
                <a:solidFill>
                  <a:srgbClr val="EBEBEB"/>
                </a:solidFill>
                <a:latin typeface="Times New Roman" panose="02020603050405020304" pitchFamily="18" charset="0"/>
                <a:cs typeface="Times New Roman" panose="02020603050405020304" pitchFamily="18" charset="0"/>
              </a:rPr>
              <a:t>Architecture Diagram</a:t>
            </a:r>
            <a:endParaRPr lang="en-IN" sz="4000" b="1" dirty="0">
              <a:solidFill>
                <a:srgbClr val="EBEBEB"/>
              </a:solidFill>
              <a:latin typeface="Times New Roman" panose="02020603050405020304" pitchFamily="18" charset="0"/>
              <a:cs typeface="Times New Roman" panose="02020603050405020304" pitchFamily="18" charset="0"/>
            </a:endParaRPr>
          </a:p>
        </p:txBody>
      </p:sp>
      <p:sp>
        <p:nvSpPr>
          <p:cNvPr id="1044" name="Freeform 11">
            <a:extLst>
              <a:ext uri="{FF2B5EF4-FFF2-40B4-BE49-F238E27FC236}">
                <a16:creationId xmlns:a16="http://schemas.microsoft.com/office/drawing/2014/main" id="{FAA0F719-3DC8-4F08-AD8F-5A845658CB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1046" name="Freeform: Shape 1045">
            <a:extLst>
              <a:ext uri="{FF2B5EF4-FFF2-40B4-BE49-F238E27FC236}">
                <a16:creationId xmlns:a16="http://schemas.microsoft.com/office/drawing/2014/main" id="{7DCB61BE-FA0F-4EFB-BE0E-268BAD8E30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4747655" y="-586345"/>
            <a:ext cx="6858001" cy="8030691"/>
          </a:xfrm>
          <a:custGeom>
            <a:avLst/>
            <a:gdLst>
              <a:gd name="connsiteX0" fmla="*/ 6858001 w 6858001"/>
              <a:gd name="connsiteY0" fmla="*/ 1177 h 8030691"/>
              <a:gd name="connsiteX1" fmla="*/ 6858001 w 6858001"/>
              <a:gd name="connsiteY1" fmla="*/ 1344715 h 8030691"/>
              <a:gd name="connsiteX2" fmla="*/ 6858000 w 6858001"/>
              <a:gd name="connsiteY2" fmla="*/ 1344715 h 8030691"/>
              <a:gd name="connsiteX3" fmla="*/ 6858000 w 6858001"/>
              <a:gd name="connsiteY3" fmla="*/ 8030691 h 8030691"/>
              <a:gd name="connsiteX4" fmla="*/ 0 w 6858001"/>
              <a:gd name="connsiteY4" fmla="*/ 8030690 h 8030691"/>
              <a:gd name="connsiteX5" fmla="*/ 0 w 6858001"/>
              <a:gd name="connsiteY5" fmla="*/ 477747 h 8030691"/>
              <a:gd name="connsiteX6" fmla="*/ 1 w 6858001"/>
              <a:gd name="connsiteY6" fmla="*/ 477747 h 8030691"/>
              <a:gd name="connsiteX7" fmla="*/ 1 w 6858001"/>
              <a:gd name="connsiteY7" fmla="*/ 0 h 8030691"/>
              <a:gd name="connsiteX8" fmla="*/ 40463 w 6858001"/>
              <a:gd name="connsiteY8" fmla="*/ 5883 h 8030691"/>
              <a:gd name="connsiteX9" fmla="*/ 159107 w 6858001"/>
              <a:gd name="connsiteY9" fmla="*/ 23196 h 8030691"/>
              <a:gd name="connsiteX10" fmla="*/ 245518 w 6858001"/>
              <a:gd name="connsiteY10" fmla="*/ 35299 h 8030691"/>
              <a:gd name="connsiteX11" fmla="*/ 348388 w 6858001"/>
              <a:gd name="connsiteY11" fmla="*/ 48074 h 8030691"/>
              <a:gd name="connsiteX12" fmla="*/ 470460 w 6858001"/>
              <a:gd name="connsiteY12" fmla="*/ 63370 h 8030691"/>
              <a:gd name="connsiteX13" fmla="*/ 605563 w 6858001"/>
              <a:gd name="connsiteY13" fmla="*/ 79507 h 8030691"/>
              <a:gd name="connsiteX14" fmla="*/ 757810 w 6858001"/>
              <a:gd name="connsiteY14" fmla="*/ 96484 h 8030691"/>
              <a:gd name="connsiteX15" fmla="*/ 923774 w 6858001"/>
              <a:gd name="connsiteY15" fmla="*/ 114469 h 8030691"/>
              <a:gd name="connsiteX16" fmla="*/ 1104139 w 6858001"/>
              <a:gd name="connsiteY16" fmla="*/ 132455 h 8030691"/>
              <a:gd name="connsiteX17" fmla="*/ 1296163 w 6858001"/>
              <a:gd name="connsiteY17" fmla="*/ 150776 h 8030691"/>
              <a:gd name="connsiteX18" fmla="*/ 1503275 w 6858001"/>
              <a:gd name="connsiteY18" fmla="*/ 167753 h 8030691"/>
              <a:gd name="connsiteX19" fmla="*/ 1719988 w 6858001"/>
              <a:gd name="connsiteY19" fmla="*/ 184058 h 8030691"/>
              <a:gd name="connsiteX20" fmla="*/ 1949045 w 6858001"/>
              <a:gd name="connsiteY20" fmla="*/ 198850 h 8030691"/>
              <a:gd name="connsiteX21" fmla="*/ 2187703 w 6858001"/>
              <a:gd name="connsiteY21" fmla="*/ 212969 h 8030691"/>
              <a:gd name="connsiteX22" fmla="*/ 2436649 w 6858001"/>
              <a:gd name="connsiteY22" fmla="*/ 226249 h 8030691"/>
              <a:gd name="connsiteX23" fmla="*/ 2564208 w 6858001"/>
              <a:gd name="connsiteY23" fmla="*/ 230955 h 8030691"/>
              <a:gd name="connsiteX24" fmla="*/ 2694509 w 6858001"/>
              <a:gd name="connsiteY24" fmla="*/ 236166 h 8030691"/>
              <a:gd name="connsiteX25" fmla="*/ 2826869 w 6858001"/>
              <a:gd name="connsiteY25" fmla="*/ 241040 h 8030691"/>
              <a:gd name="connsiteX26" fmla="*/ 2959914 w 6858001"/>
              <a:gd name="connsiteY26" fmla="*/ 244234 h 8030691"/>
              <a:gd name="connsiteX27" fmla="*/ 3095702 w 6858001"/>
              <a:gd name="connsiteY27" fmla="*/ 247092 h 8030691"/>
              <a:gd name="connsiteX28" fmla="*/ 3232862 w 6858001"/>
              <a:gd name="connsiteY28" fmla="*/ 250117 h 8030691"/>
              <a:gd name="connsiteX29" fmla="*/ 3372766 w 6858001"/>
              <a:gd name="connsiteY29" fmla="*/ 252134 h 8030691"/>
              <a:gd name="connsiteX30" fmla="*/ 3514040 w 6858001"/>
              <a:gd name="connsiteY30" fmla="*/ 252134 h 8030691"/>
              <a:gd name="connsiteX31" fmla="*/ 3656686 w 6858001"/>
              <a:gd name="connsiteY31" fmla="*/ 253143 h 8030691"/>
              <a:gd name="connsiteX32" fmla="*/ 3800705 w 6858001"/>
              <a:gd name="connsiteY32" fmla="*/ 252134 h 8030691"/>
              <a:gd name="connsiteX33" fmla="*/ 3946780 w 6858001"/>
              <a:gd name="connsiteY33" fmla="*/ 250117 h 8030691"/>
              <a:gd name="connsiteX34" fmla="*/ 4092856 w 6858001"/>
              <a:gd name="connsiteY34" fmla="*/ 248268 h 8030691"/>
              <a:gd name="connsiteX35" fmla="*/ 4240988 w 6858001"/>
              <a:gd name="connsiteY35" fmla="*/ 244234 h 8030691"/>
              <a:gd name="connsiteX36" fmla="*/ 4390492 w 6858001"/>
              <a:gd name="connsiteY36" fmla="*/ 240032 h 8030691"/>
              <a:gd name="connsiteX37" fmla="*/ 4539997 w 6858001"/>
              <a:gd name="connsiteY37" fmla="*/ 235157 h 8030691"/>
              <a:gd name="connsiteX38" fmla="*/ 4690873 w 6858001"/>
              <a:gd name="connsiteY38" fmla="*/ 228266 h 8030691"/>
              <a:gd name="connsiteX39" fmla="*/ 4843120 w 6858001"/>
              <a:gd name="connsiteY39" fmla="*/ 220029 h 8030691"/>
              <a:gd name="connsiteX40" fmla="*/ 4996054 w 6858001"/>
              <a:gd name="connsiteY40" fmla="*/ 212129 h 8030691"/>
              <a:gd name="connsiteX41" fmla="*/ 5148987 w 6858001"/>
              <a:gd name="connsiteY41" fmla="*/ 202044 h 8030691"/>
              <a:gd name="connsiteX42" fmla="*/ 5303978 w 6858001"/>
              <a:gd name="connsiteY42" fmla="*/ 189941 h 8030691"/>
              <a:gd name="connsiteX43" fmla="*/ 5456911 w 6858001"/>
              <a:gd name="connsiteY43" fmla="*/ 177839 h 8030691"/>
              <a:gd name="connsiteX44" fmla="*/ 5612588 w 6858001"/>
              <a:gd name="connsiteY44" fmla="*/ 163887 h 8030691"/>
              <a:gd name="connsiteX45" fmla="*/ 5768950 w 6858001"/>
              <a:gd name="connsiteY45" fmla="*/ 148591 h 8030691"/>
              <a:gd name="connsiteX46" fmla="*/ 5923255 w 6858001"/>
              <a:gd name="connsiteY46" fmla="*/ 132455 h 8030691"/>
              <a:gd name="connsiteX47" fmla="*/ 6079618 w 6858001"/>
              <a:gd name="connsiteY47" fmla="*/ 113629 h 8030691"/>
              <a:gd name="connsiteX48" fmla="*/ 6235294 w 6858001"/>
              <a:gd name="connsiteY48" fmla="*/ 93458 h 8030691"/>
              <a:gd name="connsiteX49" fmla="*/ 6391657 w 6858001"/>
              <a:gd name="connsiteY49" fmla="*/ 73455 h 8030691"/>
              <a:gd name="connsiteX50" fmla="*/ 6547333 w 6858001"/>
              <a:gd name="connsiteY50" fmla="*/ 50091 h 8030691"/>
              <a:gd name="connsiteX51" fmla="*/ 6702324 w 6858001"/>
              <a:gd name="connsiteY51" fmla="*/ 26222 h 8030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8030691">
                <a:moveTo>
                  <a:pt x="6858001" y="1177"/>
                </a:moveTo>
                <a:lnTo>
                  <a:pt x="6858001" y="1344715"/>
                </a:lnTo>
                <a:lnTo>
                  <a:pt x="6858000" y="1344715"/>
                </a:lnTo>
                <a:lnTo>
                  <a:pt x="6858000" y="8030691"/>
                </a:lnTo>
                <a:lnTo>
                  <a:pt x="0" y="8030690"/>
                </a:lnTo>
                <a:lnTo>
                  <a:pt x="0" y="477747"/>
                </a:lnTo>
                <a:lnTo>
                  <a:pt x="1" y="477747"/>
                </a:lnTo>
                <a:lnTo>
                  <a:pt x="1" y="0"/>
                </a:lnTo>
                <a:lnTo>
                  <a:pt x="40463" y="5883"/>
                </a:lnTo>
                <a:lnTo>
                  <a:pt x="159107" y="23196"/>
                </a:lnTo>
                <a:lnTo>
                  <a:pt x="245518" y="35299"/>
                </a:lnTo>
                <a:lnTo>
                  <a:pt x="348388" y="48074"/>
                </a:lnTo>
                <a:lnTo>
                  <a:pt x="470460" y="63370"/>
                </a:lnTo>
                <a:lnTo>
                  <a:pt x="605563" y="79507"/>
                </a:lnTo>
                <a:lnTo>
                  <a:pt x="757810" y="96484"/>
                </a:lnTo>
                <a:lnTo>
                  <a:pt x="923774" y="114469"/>
                </a:lnTo>
                <a:lnTo>
                  <a:pt x="1104139" y="132455"/>
                </a:lnTo>
                <a:lnTo>
                  <a:pt x="1296163" y="150776"/>
                </a:lnTo>
                <a:lnTo>
                  <a:pt x="1503275" y="167753"/>
                </a:lnTo>
                <a:lnTo>
                  <a:pt x="1719988" y="184058"/>
                </a:lnTo>
                <a:lnTo>
                  <a:pt x="1949045" y="198850"/>
                </a:lnTo>
                <a:lnTo>
                  <a:pt x="2187703" y="212969"/>
                </a:lnTo>
                <a:lnTo>
                  <a:pt x="2436649" y="226249"/>
                </a:lnTo>
                <a:lnTo>
                  <a:pt x="2564208" y="230955"/>
                </a:lnTo>
                <a:lnTo>
                  <a:pt x="2694509" y="236166"/>
                </a:lnTo>
                <a:lnTo>
                  <a:pt x="2826869" y="241040"/>
                </a:lnTo>
                <a:lnTo>
                  <a:pt x="2959914" y="244234"/>
                </a:lnTo>
                <a:lnTo>
                  <a:pt x="3095702" y="247092"/>
                </a:lnTo>
                <a:lnTo>
                  <a:pt x="3232862" y="250117"/>
                </a:lnTo>
                <a:lnTo>
                  <a:pt x="3372766" y="252134"/>
                </a:lnTo>
                <a:lnTo>
                  <a:pt x="3514040" y="252134"/>
                </a:lnTo>
                <a:lnTo>
                  <a:pt x="3656686" y="253143"/>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n-IN"/>
          </a:p>
        </p:txBody>
      </p:sp>
      <p:sp>
        <p:nvSpPr>
          <p:cNvPr id="1048" name="Rectangle 1047">
            <a:extLst>
              <a:ext uri="{FF2B5EF4-FFF2-40B4-BE49-F238E27FC236}">
                <a16:creationId xmlns:a16="http://schemas.microsoft.com/office/drawing/2014/main" id="{A4B31EAA-7423-46F7-9B90-4AB2B09C35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 name="Content Placeholder 9">
            <a:extLst>
              <a:ext uri="{FF2B5EF4-FFF2-40B4-BE49-F238E27FC236}">
                <a16:creationId xmlns:a16="http://schemas.microsoft.com/office/drawing/2014/main" id="{2B8E94E4-C547-C9DC-CC85-46CCF79EE42C}"/>
              </a:ext>
            </a:extLst>
          </p:cNvPr>
          <p:cNvSpPr>
            <a:spLocks noGrp="1"/>
          </p:cNvSpPr>
          <p:nvPr>
            <p:ph idx="1"/>
          </p:nvPr>
        </p:nvSpPr>
        <p:spPr>
          <a:xfrm>
            <a:off x="526911" y="2141069"/>
            <a:ext cx="3108057" cy="2947415"/>
          </a:xfrm>
        </p:spPr>
        <p:txBody>
          <a:bodyPr>
            <a:noAutofit/>
          </a:bodyPr>
          <a:lstStyle/>
          <a:p>
            <a:r>
              <a:rPr lang="en-US" dirty="0">
                <a:solidFill>
                  <a:srgbClr val="FFFFFF"/>
                </a:solidFill>
              </a:rPr>
              <a:t>Frontend communicates with backend APIs. </a:t>
            </a:r>
          </a:p>
          <a:p>
            <a:r>
              <a:rPr lang="en-US" dirty="0">
                <a:solidFill>
                  <a:srgbClr val="FFFFFF"/>
                </a:solidFill>
              </a:rPr>
              <a:t>Backend processes business logic. </a:t>
            </a:r>
          </a:p>
          <a:p>
            <a:r>
              <a:rPr lang="en-US" dirty="0">
                <a:solidFill>
                  <a:srgbClr val="FFFFFF"/>
                </a:solidFill>
              </a:rPr>
              <a:t>Database stores user, order, and menu data.</a:t>
            </a:r>
          </a:p>
          <a:p>
            <a:r>
              <a:rPr lang="en-US" dirty="0">
                <a:solidFill>
                  <a:srgbClr val="FFFFFF"/>
                </a:solidFill>
              </a:rPr>
              <a:t>Payment gateway handles transactions</a:t>
            </a:r>
            <a:endParaRPr lang="en-IN" dirty="0">
              <a:solidFill>
                <a:srgbClr val="FFFFFF"/>
              </a:solidFill>
            </a:endParaRPr>
          </a:p>
        </p:txBody>
      </p:sp>
      <p:pic>
        <p:nvPicPr>
          <p:cNvPr id="1026" name="Picture 2" descr="Design Restaurant Management System | System Design - GeeksforGeeks">
            <a:extLst>
              <a:ext uri="{FF2B5EF4-FFF2-40B4-BE49-F238E27FC236}">
                <a16:creationId xmlns:a16="http://schemas.microsoft.com/office/drawing/2014/main" id="{7DAD3057-6237-9470-98A5-424500E4F12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507582" y="0"/>
            <a:ext cx="7439908" cy="6774426"/>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8325089"/>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311B4-7BBB-DBC6-9A36-96FD6133A208}"/>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Design</a:t>
            </a:r>
            <a:endParaRPr lang="en-IN" sz="4000" b="1"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C6504458-9E3F-FA2C-1798-4D18BC131F56}"/>
              </a:ext>
            </a:extLst>
          </p:cNvPr>
          <p:cNvGraphicFramePr>
            <a:graphicFrameLocks noGrp="1"/>
          </p:cNvGraphicFramePr>
          <p:nvPr>
            <p:ph idx="1"/>
            <p:extLst>
              <p:ext uri="{D42A27DB-BD31-4B8C-83A1-F6EECF244321}">
                <p14:modId xmlns:p14="http://schemas.microsoft.com/office/powerpoint/2010/main" val="593525340"/>
              </p:ext>
            </p:extLst>
          </p:nvPr>
        </p:nvGraphicFramePr>
        <p:xfrm>
          <a:off x="838200" y="1690687"/>
          <a:ext cx="10515600" cy="3923532"/>
        </p:xfrm>
        <a:graphic>
          <a:graphicData uri="http://schemas.openxmlformats.org/drawingml/2006/table">
            <a:tbl>
              <a:tblPr firstRow="1" firstCol="1" bandRow="1">
                <a:tableStyleId>{5C22544A-7EE6-4342-B048-85BDC9FD1C3A}</a:tableStyleId>
              </a:tblPr>
              <a:tblGrid>
                <a:gridCol w="5257800">
                  <a:extLst>
                    <a:ext uri="{9D8B030D-6E8A-4147-A177-3AD203B41FA5}">
                      <a16:colId xmlns:a16="http://schemas.microsoft.com/office/drawing/2014/main" val="3396288870"/>
                    </a:ext>
                  </a:extLst>
                </a:gridCol>
                <a:gridCol w="5257800">
                  <a:extLst>
                    <a:ext uri="{9D8B030D-6E8A-4147-A177-3AD203B41FA5}">
                      <a16:colId xmlns:a16="http://schemas.microsoft.com/office/drawing/2014/main" val="3017681301"/>
                    </a:ext>
                  </a:extLst>
                </a:gridCol>
              </a:tblGrid>
              <a:tr h="653922">
                <a:tc>
                  <a:txBody>
                    <a:bodyPr/>
                    <a:lstStyle/>
                    <a:p>
                      <a:pPr>
                        <a:lnSpc>
                          <a:spcPts val="1200"/>
                        </a:lnSpc>
                        <a:spcAft>
                          <a:spcPts val="600"/>
                        </a:spcAft>
                        <a:buNone/>
                      </a:pPr>
                      <a:r>
                        <a:rPr lang="en-US" sz="1600" dirty="0">
                          <a:effectLst/>
                        </a:rPr>
                        <a:t>Collection</a:t>
                      </a:r>
                      <a:endParaRPr lang="en-IN" sz="1600" dirty="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nchor="ctr"/>
                </a:tc>
                <a:tc>
                  <a:txBody>
                    <a:bodyPr/>
                    <a:lstStyle/>
                    <a:p>
                      <a:pPr>
                        <a:lnSpc>
                          <a:spcPts val="1200"/>
                        </a:lnSpc>
                        <a:spcAft>
                          <a:spcPts val="600"/>
                        </a:spcAft>
                        <a:buNone/>
                      </a:pPr>
                      <a:r>
                        <a:rPr lang="en-US" sz="1600">
                          <a:effectLst/>
                        </a:rPr>
                        <a:t>Key Fields</a:t>
                      </a:r>
                      <a:endParaRPr lang="en-IN" sz="16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nchor="ctr"/>
                </a:tc>
                <a:extLst>
                  <a:ext uri="{0D108BD9-81ED-4DB2-BD59-A6C34878D82A}">
                    <a16:rowId xmlns:a16="http://schemas.microsoft.com/office/drawing/2014/main" val="3300849095"/>
                  </a:ext>
                </a:extLst>
              </a:tr>
              <a:tr h="653922">
                <a:tc>
                  <a:txBody>
                    <a:bodyPr/>
                    <a:lstStyle/>
                    <a:p>
                      <a:pPr>
                        <a:lnSpc>
                          <a:spcPts val="1200"/>
                        </a:lnSpc>
                        <a:spcAft>
                          <a:spcPts val="600"/>
                        </a:spcAft>
                        <a:buNone/>
                      </a:pPr>
                      <a:r>
                        <a:rPr lang="en-US" sz="1600">
                          <a:effectLst/>
                        </a:rPr>
                        <a:t>users</a:t>
                      </a:r>
                      <a:endParaRPr lang="en-IN" sz="16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nchor="ctr"/>
                </a:tc>
                <a:tc>
                  <a:txBody>
                    <a:bodyPr/>
                    <a:lstStyle/>
                    <a:p>
                      <a:pPr>
                        <a:lnSpc>
                          <a:spcPts val="1200"/>
                        </a:lnSpc>
                        <a:spcAft>
                          <a:spcPts val="600"/>
                        </a:spcAft>
                        <a:buNone/>
                      </a:pPr>
                      <a:r>
                        <a:rPr lang="en-US" sz="1600">
                          <a:effectLst/>
                        </a:rPr>
                        <a:t>_id, name, email, password, phone, addresses[]</a:t>
                      </a:r>
                      <a:endParaRPr lang="en-IN" sz="16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nchor="ctr"/>
                </a:tc>
                <a:extLst>
                  <a:ext uri="{0D108BD9-81ED-4DB2-BD59-A6C34878D82A}">
                    <a16:rowId xmlns:a16="http://schemas.microsoft.com/office/drawing/2014/main" val="2800620753"/>
                  </a:ext>
                </a:extLst>
              </a:tr>
              <a:tr h="653922">
                <a:tc>
                  <a:txBody>
                    <a:bodyPr/>
                    <a:lstStyle/>
                    <a:p>
                      <a:pPr>
                        <a:lnSpc>
                          <a:spcPts val="1200"/>
                        </a:lnSpc>
                        <a:spcAft>
                          <a:spcPts val="600"/>
                        </a:spcAft>
                        <a:buNone/>
                      </a:pPr>
                      <a:r>
                        <a:rPr lang="en-US" sz="1600">
                          <a:effectLst/>
                        </a:rPr>
                        <a:t>menu_items</a:t>
                      </a:r>
                      <a:endParaRPr lang="en-IN" sz="16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nchor="ctr"/>
                </a:tc>
                <a:tc>
                  <a:txBody>
                    <a:bodyPr/>
                    <a:lstStyle/>
                    <a:p>
                      <a:pPr>
                        <a:lnSpc>
                          <a:spcPts val="1200"/>
                        </a:lnSpc>
                        <a:spcAft>
                          <a:spcPts val="600"/>
                        </a:spcAft>
                        <a:buNone/>
                      </a:pPr>
                      <a:r>
                        <a:rPr lang="en-US" sz="1600">
                          <a:effectLst/>
                        </a:rPr>
                        <a:t>_id, name, description, price, category, image, available</a:t>
                      </a:r>
                      <a:endParaRPr lang="en-IN" sz="16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nchor="ctr"/>
                </a:tc>
                <a:extLst>
                  <a:ext uri="{0D108BD9-81ED-4DB2-BD59-A6C34878D82A}">
                    <a16:rowId xmlns:a16="http://schemas.microsoft.com/office/drawing/2014/main" val="172455206"/>
                  </a:ext>
                </a:extLst>
              </a:tr>
              <a:tr h="653922">
                <a:tc>
                  <a:txBody>
                    <a:bodyPr/>
                    <a:lstStyle/>
                    <a:p>
                      <a:pPr>
                        <a:lnSpc>
                          <a:spcPts val="1200"/>
                        </a:lnSpc>
                        <a:spcAft>
                          <a:spcPts val="600"/>
                        </a:spcAft>
                        <a:buNone/>
                      </a:pPr>
                      <a:r>
                        <a:rPr lang="en-US" sz="1600">
                          <a:effectLst/>
                        </a:rPr>
                        <a:t>orders</a:t>
                      </a:r>
                      <a:endParaRPr lang="en-IN" sz="16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nchor="ctr"/>
                </a:tc>
                <a:tc>
                  <a:txBody>
                    <a:bodyPr/>
                    <a:lstStyle/>
                    <a:p>
                      <a:pPr>
                        <a:lnSpc>
                          <a:spcPts val="1200"/>
                        </a:lnSpc>
                        <a:spcAft>
                          <a:spcPts val="600"/>
                        </a:spcAft>
                        <a:buNone/>
                      </a:pPr>
                      <a:r>
                        <a:rPr lang="en-US" sz="1600">
                          <a:effectLst/>
                        </a:rPr>
                        <a:t>_id, user_id, items[], total, status, timestamp</a:t>
                      </a:r>
                      <a:endParaRPr lang="en-IN" sz="16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nchor="ctr"/>
                </a:tc>
                <a:extLst>
                  <a:ext uri="{0D108BD9-81ED-4DB2-BD59-A6C34878D82A}">
                    <a16:rowId xmlns:a16="http://schemas.microsoft.com/office/drawing/2014/main" val="3509497375"/>
                  </a:ext>
                </a:extLst>
              </a:tr>
              <a:tr h="653922">
                <a:tc>
                  <a:txBody>
                    <a:bodyPr/>
                    <a:lstStyle/>
                    <a:p>
                      <a:pPr>
                        <a:lnSpc>
                          <a:spcPts val="1200"/>
                        </a:lnSpc>
                        <a:spcAft>
                          <a:spcPts val="600"/>
                        </a:spcAft>
                        <a:buNone/>
                      </a:pPr>
                      <a:r>
                        <a:rPr lang="en-US" sz="1600">
                          <a:effectLst/>
                        </a:rPr>
                        <a:t>categories</a:t>
                      </a:r>
                      <a:endParaRPr lang="en-IN" sz="16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nchor="ctr"/>
                </a:tc>
                <a:tc>
                  <a:txBody>
                    <a:bodyPr/>
                    <a:lstStyle/>
                    <a:p>
                      <a:pPr>
                        <a:lnSpc>
                          <a:spcPts val="1200"/>
                        </a:lnSpc>
                        <a:spcAft>
                          <a:spcPts val="600"/>
                        </a:spcAft>
                        <a:buNone/>
                      </a:pPr>
                      <a:r>
                        <a:rPr lang="en-US" sz="1600">
                          <a:effectLst/>
                        </a:rPr>
                        <a:t>_id, name, description, display_order</a:t>
                      </a:r>
                      <a:endParaRPr lang="en-IN" sz="16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nchor="ctr"/>
                </a:tc>
                <a:extLst>
                  <a:ext uri="{0D108BD9-81ED-4DB2-BD59-A6C34878D82A}">
                    <a16:rowId xmlns:a16="http://schemas.microsoft.com/office/drawing/2014/main" val="2059875627"/>
                  </a:ext>
                </a:extLst>
              </a:tr>
              <a:tr h="653922">
                <a:tc>
                  <a:txBody>
                    <a:bodyPr/>
                    <a:lstStyle/>
                    <a:p>
                      <a:pPr>
                        <a:lnSpc>
                          <a:spcPts val="1200"/>
                        </a:lnSpc>
                        <a:spcAft>
                          <a:spcPts val="600"/>
                        </a:spcAft>
                        <a:buNone/>
                      </a:pPr>
                      <a:r>
                        <a:rPr lang="en-US" sz="1600">
                          <a:effectLst/>
                        </a:rPr>
                        <a:t>inventory</a:t>
                      </a:r>
                      <a:endParaRPr lang="en-IN" sz="16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nchor="ctr"/>
                </a:tc>
                <a:tc>
                  <a:txBody>
                    <a:bodyPr/>
                    <a:lstStyle/>
                    <a:p>
                      <a:pPr>
                        <a:lnSpc>
                          <a:spcPts val="1200"/>
                        </a:lnSpc>
                        <a:spcAft>
                          <a:spcPts val="600"/>
                        </a:spcAft>
                        <a:buNone/>
                      </a:pPr>
                      <a:r>
                        <a:rPr lang="en-US" sz="1600" dirty="0">
                          <a:effectLst/>
                        </a:rPr>
                        <a:t>_id, </a:t>
                      </a:r>
                      <a:r>
                        <a:rPr lang="en-US" sz="1600" dirty="0" err="1">
                          <a:effectLst/>
                        </a:rPr>
                        <a:t>item_name</a:t>
                      </a:r>
                      <a:r>
                        <a:rPr lang="en-US" sz="1600" dirty="0">
                          <a:effectLst/>
                        </a:rPr>
                        <a:t>, quantity, threshold, unit</a:t>
                      </a:r>
                      <a:endParaRPr lang="en-IN" sz="1600" dirty="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nchor="ctr"/>
                </a:tc>
                <a:extLst>
                  <a:ext uri="{0D108BD9-81ED-4DB2-BD59-A6C34878D82A}">
                    <a16:rowId xmlns:a16="http://schemas.microsoft.com/office/drawing/2014/main" val="149716574"/>
                  </a:ext>
                </a:extLst>
              </a:tr>
            </a:tbl>
          </a:graphicData>
        </a:graphic>
      </p:graphicFrame>
    </p:spTree>
    <p:extLst>
      <p:ext uri="{BB962C8B-B14F-4D97-AF65-F5344CB8AC3E}">
        <p14:creationId xmlns:p14="http://schemas.microsoft.com/office/powerpoint/2010/main" val="25028431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23E8915-D2AA-4327-A45A-972C3CA957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8302FC3C-9804-4950-B721-5FD704BA60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6B9695BD-ECF6-49CA-8877-8C493193C6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3BC6EBB2-9BDC-4075-BA6B-43A9FBF9C8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b="23320"/>
          <a:stretch/>
        </p:blipFill>
        <p:spPr>
          <a:xfrm>
            <a:off x="8605878" y="6228080"/>
            <a:ext cx="993734" cy="762000"/>
          </a:xfrm>
          <a:prstGeom prst="rect">
            <a:avLst/>
          </a:prstGeom>
        </p:spPr>
      </p:pic>
      <p:sp>
        <p:nvSpPr>
          <p:cNvPr id="16" name="Freeform 5">
            <a:extLst>
              <a:ext uri="{FF2B5EF4-FFF2-40B4-BE49-F238E27FC236}">
                <a16:creationId xmlns:a16="http://schemas.microsoft.com/office/drawing/2014/main" id="{F3798573-F27B-47EB-8EA4-7EE34954C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IN"/>
          </a:p>
        </p:txBody>
      </p:sp>
      <p:sp>
        <p:nvSpPr>
          <p:cNvPr id="2" name="Title 1">
            <a:extLst>
              <a:ext uri="{FF2B5EF4-FFF2-40B4-BE49-F238E27FC236}">
                <a16:creationId xmlns:a16="http://schemas.microsoft.com/office/drawing/2014/main" id="{3ACB12EC-3910-5848-9427-047FEB556BB0}"/>
              </a:ext>
            </a:extLst>
          </p:cNvPr>
          <p:cNvSpPr>
            <a:spLocks noGrp="1"/>
          </p:cNvSpPr>
          <p:nvPr>
            <p:ph type="title"/>
          </p:nvPr>
        </p:nvSpPr>
        <p:spPr>
          <a:xfrm>
            <a:off x="806195" y="804672"/>
            <a:ext cx="3521359" cy="5248656"/>
          </a:xfrm>
        </p:spPr>
        <p:txBody>
          <a:bodyPr anchor="ctr">
            <a:normAutofit/>
          </a:bodyPr>
          <a:lstStyle/>
          <a:p>
            <a:pPr algn="ctr"/>
            <a:r>
              <a:rPr lang="en-US" sz="4000" b="1" dirty="0">
                <a:latin typeface="Times New Roman" panose="02020603050405020304" pitchFamily="18" charset="0"/>
                <a:cs typeface="Times New Roman" panose="02020603050405020304" pitchFamily="18" charset="0"/>
              </a:rPr>
              <a:t>Conclusion</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A3C2B4C-C485-3E6E-B5A1-C222834EA4FA}"/>
              </a:ext>
            </a:extLst>
          </p:cNvPr>
          <p:cNvSpPr>
            <a:spLocks noGrp="1"/>
          </p:cNvSpPr>
          <p:nvPr>
            <p:ph idx="1"/>
          </p:nvPr>
        </p:nvSpPr>
        <p:spPr>
          <a:xfrm>
            <a:off x="5235191" y="804671"/>
            <a:ext cx="6140600" cy="5248657"/>
          </a:xfrm>
        </p:spPr>
        <p:txBody>
          <a:bodyPr anchor="ctr">
            <a:normAutofit/>
          </a:bodyPr>
          <a:lstStyle/>
          <a:p>
            <a:pPr marL="0" indent="0">
              <a:lnSpc>
                <a:spcPct val="250000"/>
              </a:lnSpc>
              <a:buNone/>
            </a:pPr>
            <a:r>
              <a:rPr lang="en-US" dirty="0"/>
              <a:t>The proposed system offers an integrated, secure, and scalable platform that enhances efficiency, accuracy, customer satisfaction, and supports restaurant digital transformation</a:t>
            </a:r>
          </a:p>
          <a:p>
            <a:endParaRPr lang="en-IN" dirty="0"/>
          </a:p>
        </p:txBody>
      </p:sp>
    </p:spTree>
    <p:extLst>
      <p:ext uri="{BB962C8B-B14F-4D97-AF65-F5344CB8AC3E}">
        <p14:creationId xmlns:p14="http://schemas.microsoft.com/office/powerpoint/2010/main" val="36184649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EEBF6-7960-F7D0-694E-A30D658A2974}"/>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Reference</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A044C4B-5E10-8901-21EF-C00BDB1ACF30}"/>
              </a:ext>
            </a:extLst>
          </p:cNvPr>
          <p:cNvSpPr>
            <a:spLocks noGrp="1"/>
          </p:cNvSpPr>
          <p:nvPr>
            <p:ph idx="1"/>
          </p:nvPr>
        </p:nvSpPr>
        <p:spPr>
          <a:xfrm>
            <a:off x="838199" y="1484670"/>
            <a:ext cx="10707689" cy="5063613"/>
          </a:xfrm>
        </p:spPr>
        <p:txBody>
          <a:bodyPr>
            <a:normAutofit fontScale="40000" lnSpcReduction="20000"/>
          </a:bodyPr>
          <a:lstStyle/>
          <a:p>
            <a:r>
              <a:rPr lang="en-US" sz="2900" dirty="0"/>
              <a:t>[21] Squarespace. (2025, November 20). 5 best restaurant website examples for 2026. </a:t>
            </a:r>
            <a:r>
              <a:rPr lang="en-US" sz="2900" dirty="0">
                <a:hlinkClick r:id="rId2"/>
              </a:rPr>
              <a:t>https://www.squarespace.com/blog/restaurant-website-design-examples</a:t>
            </a:r>
            <a:endParaRPr lang="en-IN" sz="2900" dirty="0"/>
          </a:p>
          <a:p>
            <a:r>
              <a:rPr lang="en-US" sz="2900" dirty="0"/>
              <a:t>[22] YouTube. (2021, November 22). 10 best restaurant website examples of 2026. </a:t>
            </a:r>
            <a:r>
              <a:rPr lang="en-US" sz="2900" dirty="0">
                <a:hlinkClick r:id="rId3"/>
              </a:rPr>
              <a:t>https://www.youtube.com/watch?v=xe6xcF1Zchk</a:t>
            </a:r>
            <a:endParaRPr lang="en-IN" sz="2900" dirty="0"/>
          </a:p>
          <a:p>
            <a:r>
              <a:rPr lang="en-US" sz="2900" dirty="0"/>
              <a:t>[23] Scribd. (2025, June 18). Restaurant management system database schema. </a:t>
            </a:r>
            <a:r>
              <a:rPr lang="en-US" sz="2900" dirty="0">
                <a:hlinkClick r:id="rId4"/>
              </a:rPr>
              <a:t>https://www.scribd.com/document/455694826/DB-Schema-docx</a:t>
            </a:r>
            <a:endParaRPr lang="en-IN" sz="2900" dirty="0"/>
          </a:p>
          <a:p>
            <a:r>
              <a:rPr lang="en-US" sz="2900" dirty="0"/>
              <a:t>[24] Visual Paradigm Online. (2024, December 31). Restaurant service flowchart. </a:t>
            </a:r>
            <a:r>
              <a:rPr lang="en-US" sz="2900" dirty="0">
                <a:hlinkClick r:id="rId5"/>
              </a:rPr>
              <a:t>https://online.visual-paradigm.com/diagrams/templates/flowchart/restaurant-service-flowchart</a:t>
            </a:r>
            <a:endParaRPr lang="en-IN" sz="2900" dirty="0"/>
          </a:p>
          <a:p>
            <a:r>
              <a:rPr lang="en-US" sz="2900" dirty="0"/>
              <a:t>[25] </a:t>
            </a:r>
            <a:r>
              <a:rPr lang="en-US" sz="2900" dirty="0">
                <a:hlinkClick r:id="rId6"/>
              </a:rPr>
              <a:t>Dev.to</a:t>
            </a:r>
            <a:r>
              <a:rPr lang="en-US" sz="2900" dirty="0"/>
              <a:t>. (2024, December 13). Next.js vs React performance: A comprehensive comparison. </a:t>
            </a:r>
            <a:r>
              <a:rPr lang="en-US" sz="2900" dirty="0">
                <a:hlinkClick r:id="rId7"/>
              </a:rPr>
              <a:t>https://dev.to/jhk_info/next-js-vs-react-performance-a-comprehensive-comparison-4fgc</a:t>
            </a:r>
            <a:endParaRPr lang="en-IN" sz="2900" dirty="0"/>
          </a:p>
          <a:p>
            <a:r>
              <a:rPr lang="en-US" sz="2900" dirty="0"/>
              <a:t>[26] Microsoft Tech Community. (2024, December 2). Building a restaurant management system with Azure Database for MySQL. </a:t>
            </a:r>
            <a:r>
              <a:rPr lang="en-US" sz="2900" dirty="0">
                <a:hlinkClick r:id="rId8"/>
              </a:rPr>
              <a:t>https://techcommunity.microsoft.com/blog/adformysql/building-a-restaurant-management-system-with-azure-database-for-mysql/429710</a:t>
            </a:r>
            <a:endParaRPr lang="en-IN" sz="2900" dirty="0"/>
          </a:p>
          <a:p>
            <a:r>
              <a:rPr lang="en-US" sz="2900" dirty="0"/>
              <a:t>[27] </a:t>
            </a:r>
            <a:r>
              <a:rPr lang="en-US" sz="2900" dirty="0" err="1"/>
              <a:t>Custellence</a:t>
            </a:r>
            <a:r>
              <a:rPr lang="en-US" sz="2900" dirty="0"/>
              <a:t>. (2024, October 22). Delivery and food order customer journey map template. </a:t>
            </a:r>
            <a:r>
              <a:rPr lang="en-US" sz="2900" dirty="0">
                <a:hlinkClick r:id="rId9"/>
              </a:rPr>
              <a:t>https://www.custellence.com/restaurant-food-ordering-and-delivery-customer-journey-map-template/</a:t>
            </a:r>
            <a:endParaRPr lang="en-IN" sz="2900" dirty="0"/>
          </a:p>
          <a:p>
            <a:r>
              <a:rPr lang="en-US" sz="2900" dirty="0"/>
              <a:t>[28] </a:t>
            </a:r>
            <a:r>
              <a:rPr lang="en-US" sz="2900" dirty="0" err="1"/>
              <a:t>Shivlab</a:t>
            </a:r>
            <a:r>
              <a:rPr lang="en-US" sz="2900" dirty="0"/>
              <a:t>. (2025, March 10). Next.js vs React: Which one is best for building web apps. </a:t>
            </a:r>
            <a:r>
              <a:rPr lang="en-US" sz="2900" dirty="0">
                <a:hlinkClick r:id="rId10"/>
              </a:rPr>
              <a:t>https://shivlab.com/blog/nextjs-vs-react-which-one-is-best-for-web-apps/</a:t>
            </a:r>
            <a:endParaRPr lang="en-IN" sz="2900" dirty="0"/>
          </a:p>
          <a:p>
            <a:r>
              <a:rPr lang="en-US" sz="2900" dirty="0"/>
              <a:t>[29] Adobe Business. (2025, May 28). User flow diagrams and analysis | Customer journey analytics. </a:t>
            </a:r>
            <a:r>
              <a:rPr lang="en-US" sz="2900" dirty="0">
                <a:hlinkClick r:id="rId11"/>
              </a:rPr>
              <a:t>https://business.adobe.com/products/adobe-analytics/customer-journey-analytics/flow-diagrams.html</a:t>
            </a:r>
            <a:endParaRPr lang="en-IN" sz="2900" dirty="0"/>
          </a:p>
          <a:p>
            <a:r>
              <a:rPr lang="en-US" sz="2900" dirty="0"/>
              <a:t>[30] Nishit Hacks. (2024, January 20). React vs. Next.js: Unveiling performance secrets for web developers. </a:t>
            </a:r>
            <a:r>
              <a:rPr lang="en-US" sz="2900" dirty="0">
                <a:hlinkClick r:id="rId12"/>
              </a:rPr>
              <a:t>https://nishithacks.hashnode.dev/react-vs-nextjs-unveiling-performance-secrets-for-web-developers</a:t>
            </a:r>
            <a:endParaRPr lang="en-IN" sz="2900" dirty="0"/>
          </a:p>
          <a:p>
            <a:r>
              <a:rPr lang="en-US" sz="2900" dirty="0"/>
              <a:t>[31] Scribd. (2024, January 1). Restaurant website overview. </a:t>
            </a:r>
            <a:r>
              <a:rPr lang="en-US" sz="2900" dirty="0">
                <a:hlinkClick r:id="rId13"/>
              </a:rPr>
              <a:t>https://www.scribd.com/document/640185044/Restaurant-Website</a:t>
            </a:r>
            <a:endParaRPr lang="en-IN" sz="2900" dirty="0"/>
          </a:p>
          <a:p>
            <a:endParaRPr lang="en-IN" dirty="0"/>
          </a:p>
        </p:txBody>
      </p:sp>
    </p:spTree>
    <p:extLst>
      <p:ext uri="{BB962C8B-B14F-4D97-AF65-F5344CB8AC3E}">
        <p14:creationId xmlns:p14="http://schemas.microsoft.com/office/powerpoint/2010/main" val="42338321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7" name="Graphic 6" descr="Fork and knife">
            <a:extLst>
              <a:ext uri="{FF2B5EF4-FFF2-40B4-BE49-F238E27FC236}">
                <a16:creationId xmlns:a16="http://schemas.microsoft.com/office/drawing/2014/main" id="{B9448A07-2DD9-641F-31F2-C5E080C157A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6914" y="1339536"/>
            <a:ext cx="4261089" cy="4261089"/>
          </a:xfrm>
          <a:prstGeom prst="rect">
            <a:avLst/>
          </a:prstGeom>
          <a:effectLst>
            <a:outerShdw blurRad="50800" dist="38100" dir="5400000" algn="t" rotWithShape="0">
              <a:prstClr val="black">
                <a:alpha val="43000"/>
              </a:prstClr>
            </a:outerShdw>
          </a:effectLst>
        </p:spPr>
      </p:pic>
      <p:sp>
        <p:nvSpPr>
          <p:cNvPr id="3" name="Content Placeholder 2">
            <a:extLst>
              <a:ext uri="{FF2B5EF4-FFF2-40B4-BE49-F238E27FC236}">
                <a16:creationId xmlns:a16="http://schemas.microsoft.com/office/drawing/2014/main" id="{D9596191-C672-DC2C-A004-5C06FEF380ED}"/>
              </a:ext>
            </a:extLst>
          </p:cNvPr>
          <p:cNvSpPr>
            <a:spLocks noGrp="1"/>
          </p:cNvSpPr>
          <p:nvPr>
            <p:ph idx="1"/>
          </p:nvPr>
        </p:nvSpPr>
        <p:spPr>
          <a:xfrm>
            <a:off x="5083277" y="2954215"/>
            <a:ext cx="6050296" cy="1356528"/>
          </a:xfrm>
        </p:spPr>
        <p:txBody>
          <a:bodyPr>
            <a:noAutofit/>
          </a:bodyPr>
          <a:lstStyle/>
          <a:p>
            <a:pPr marL="0" indent="0">
              <a:buNone/>
            </a:pPr>
            <a:r>
              <a:rPr lang="en-IN" sz="6000" b="1" dirty="0">
                <a:latin typeface="Amasis MT Pro Black" panose="02040A04050005020304" pitchFamily="18" charset="0"/>
              </a:rPr>
              <a:t>THANK YOU</a:t>
            </a:r>
          </a:p>
        </p:txBody>
      </p:sp>
    </p:spTree>
    <p:extLst>
      <p:ext uri="{BB962C8B-B14F-4D97-AF65-F5344CB8AC3E}">
        <p14:creationId xmlns:p14="http://schemas.microsoft.com/office/powerpoint/2010/main" val="420338741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ff3e966f-3b74-414a-be35-5a1f85cc86e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636B86B9AABF3448FA57F351E3B8BC3" ma:contentTypeVersion="10" ma:contentTypeDescription="Create a new document." ma:contentTypeScope="" ma:versionID="a84cc968d076477e81bebd4b03cfc46c">
  <xsd:schema xmlns:xsd="http://www.w3.org/2001/XMLSchema" xmlns:xs="http://www.w3.org/2001/XMLSchema" xmlns:p="http://schemas.microsoft.com/office/2006/metadata/properties" xmlns:ns3="ff3e966f-3b74-414a-be35-5a1f85cc86e4" targetNamespace="http://schemas.microsoft.com/office/2006/metadata/properties" ma:root="true" ma:fieldsID="4173c80141ea54bce819c415c6b541bb" ns3:_="">
    <xsd:import namespace="ff3e966f-3b74-414a-be35-5a1f85cc86e4"/>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3e966f-3b74-414a-be35-5a1f85cc86e4"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DCF3A57-58B5-4EEA-8A31-FB40381ECBBF}">
  <ds:schemaRefs>
    <ds:schemaRef ds:uri="http://www.w3.org/XML/1998/namespace"/>
    <ds:schemaRef ds:uri="http://purl.org/dc/terms/"/>
    <ds:schemaRef ds:uri="http://schemas.microsoft.com/office/infopath/2007/PartnerControls"/>
    <ds:schemaRef ds:uri="http://purl.org/dc/elements/1.1/"/>
    <ds:schemaRef ds:uri="http://purl.org/dc/dcmitype/"/>
    <ds:schemaRef ds:uri="http://schemas.microsoft.com/office/2006/metadata/properties"/>
    <ds:schemaRef ds:uri="http://schemas.microsoft.com/office/2006/documentManagement/types"/>
    <ds:schemaRef ds:uri="http://schemas.openxmlformats.org/package/2006/metadata/core-properties"/>
    <ds:schemaRef ds:uri="ff3e966f-3b74-414a-be35-5a1f85cc86e4"/>
  </ds:schemaRefs>
</ds:datastoreItem>
</file>

<file path=customXml/itemProps2.xml><?xml version="1.0" encoding="utf-8"?>
<ds:datastoreItem xmlns:ds="http://schemas.openxmlformats.org/officeDocument/2006/customXml" ds:itemID="{936088B8-0A8B-4B49-8285-0229E821D30A}">
  <ds:schemaRefs>
    <ds:schemaRef ds:uri="http://schemas.microsoft.com/sharepoint/v3/contenttype/forms"/>
  </ds:schemaRefs>
</ds:datastoreItem>
</file>

<file path=customXml/itemProps3.xml><?xml version="1.0" encoding="utf-8"?>
<ds:datastoreItem xmlns:ds="http://schemas.openxmlformats.org/officeDocument/2006/customXml" ds:itemID="{26F43CAC-841D-427B-955E-C09910B626F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f3e966f-3b74-414a-be35-5a1f85cc86e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Ion</Template>
  <TotalTime>173</TotalTime>
  <Words>693</Words>
  <Application>Microsoft Office PowerPoint</Application>
  <PresentationFormat>Widescreen</PresentationFormat>
  <Paragraphs>68</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Amasis MT Pro Black</vt:lpstr>
      <vt:lpstr>Century Gothic</vt:lpstr>
      <vt:lpstr>Georgia</vt:lpstr>
      <vt:lpstr>Times New Roman</vt:lpstr>
      <vt:lpstr>Wingdings 3</vt:lpstr>
      <vt:lpstr>Ion</vt:lpstr>
      <vt:lpstr>Group 3 Project Title: Restaurant Website</vt:lpstr>
      <vt:lpstr>Presentation Flow</vt:lpstr>
      <vt:lpstr>Introduction</vt:lpstr>
      <vt:lpstr>Problem Statement</vt:lpstr>
      <vt:lpstr>Project Goal</vt:lpstr>
      <vt:lpstr>Objectives</vt:lpstr>
      <vt:lpstr>Architecture Diagram</vt:lpstr>
      <vt:lpstr>Design</vt:lpstr>
      <vt:lpstr>Conclusion</vt:lpstr>
      <vt:lpstr>Reference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sagar md</dc:creator>
  <cp:lastModifiedBy>Mohammed Abdullah</cp:lastModifiedBy>
  <cp:revision>17</cp:revision>
  <dcterms:created xsi:type="dcterms:W3CDTF">2026-02-06T06:54:05Z</dcterms:created>
  <dcterms:modified xsi:type="dcterms:W3CDTF">2026-02-08T10:07:03Z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0x0101002636B86B9AABF3448FA57F351E3B8BC3</vt:lpwstr>
  </property>
</Properties>
</file>